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3"/>
  </p:notesMasterIdLst>
  <p:sldIdLst>
    <p:sldId id="390" r:id="rId3"/>
    <p:sldId id="2147483462" r:id="rId4"/>
    <p:sldId id="2147483471" r:id="rId5"/>
    <p:sldId id="2147483466" r:id="rId6"/>
    <p:sldId id="2147483464" r:id="rId7"/>
    <p:sldId id="2147483465" r:id="rId8"/>
    <p:sldId id="2147483467" r:id="rId9"/>
    <p:sldId id="2147483472" r:id="rId10"/>
    <p:sldId id="2147483468" r:id="rId11"/>
    <p:sldId id="21474834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00F210-5C89-FBC5-1BDE-58988F8113C8}" name="Burkhalter, Curtis" initials="" userId="S::curtis.burkhalter@hp.com::61aabafc-e9f7-40e1-a918-2d21e5c5a12c" providerId="AD"/>
  <p188:author id="{F8DA6230-02D8-CC98-8AD6-78454BA9582D}" name="Amber Huffer" initials="AH" userId="S::amber.huffer@wundermanthompson.com::8651c0f5-c0b0-46da-b940-cebad0babbce" providerId="AD"/>
  <p188:author id="{9A302A42-5CB6-23DD-03BA-0D09E4F4C59D}" name="Tezenas Du Montcel, Cecile" initials="CT" userId="S::cecile.tezenas-du-montcel@hp.com::817b1e8c-c506-4b38-8903-c97e3d1bdae8" providerId="AD"/>
  <p188:author id="{1BBAF9C8-C5AE-BD99-DE95-B1A1DBBB55FD}" name="Gosalvez, Jorge Rick" initials="GJ" userId="S::rick.gosalvez@hp.com::4be3c511-153c-49eb-ae85-bc8fead124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214B4-F485-43E4-9424-778AF499DD70}" v="2" dt="2026-05-12T16:21:40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42" d="100"/>
          <a:sy n="142" d="100"/>
        </p:scale>
        <p:origin x="58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khalter, Curtis" userId="61aabafc-e9f7-40e1-a918-2d21e5c5a12c" providerId="ADAL" clId="{CA1B045F-A9BB-455B-91C9-825E53CD6026}"/>
    <pc:docChg chg="addSld modSld sldOrd">
      <pc:chgData name="Burkhalter, Curtis" userId="61aabafc-e9f7-40e1-a918-2d21e5c5a12c" providerId="ADAL" clId="{CA1B045F-A9BB-455B-91C9-825E53CD6026}" dt="2026-05-13T15:30:45.816" v="66" actId="20577"/>
      <pc:docMkLst>
        <pc:docMk/>
      </pc:docMkLst>
      <pc:sldChg chg="modSp mod">
        <pc:chgData name="Burkhalter, Curtis" userId="61aabafc-e9f7-40e1-a918-2d21e5c5a12c" providerId="ADAL" clId="{CA1B045F-A9BB-455B-91C9-825E53CD6026}" dt="2026-05-11T21:35:03.213" v="45" actId="20577"/>
        <pc:sldMkLst>
          <pc:docMk/>
          <pc:sldMk cId="3842720317" sldId="2147483466"/>
        </pc:sldMkLst>
        <pc:spChg chg="mod">
          <ac:chgData name="Burkhalter, Curtis" userId="61aabafc-e9f7-40e1-a918-2d21e5c5a12c" providerId="ADAL" clId="{CA1B045F-A9BB-455B-91C9-825E53CD6026}" dt="2026-05-11T21:35:03.213" v="45" actId="20577"/>
          <ac:spMkLst>
            <pc:docMk/>
            <pc:sldMk cId="3842720317" sldId="2147483466"/>
            <ac:spMk id="5" creationId="{0AAC080F-EE7F-CA78-E9B7-2BC69C185BB6}"/>
          </ac:spMkLst>
        </pc:spChg>
      </pc:sldChg>
      <pc:sldChg chg="modSp mod">
        <pc:chgData name="Burkhalter, Curtis" userId="61aabafc-e9f7-40e1-a918-2d21e5c5a12c" providerId="ADAL" clId="{CA1B045F-A9BB-455B-91C9-825E53CD6026}" dt="2026-05-13T15:30:45.816" v="66" actId="20577"/>
        <pc:sldMkLst>
          <pc:docMk/>
          <pc:sldMk cId="1220308468" sldId="2147483467"/>
        </pc:sldMkLst>
        <pc:spChg chg="mod">
          <ac:chgData name="Burkhalter, Curtis" userId="61aabafc-e9f7-40e1-a918-2d21e5c5a12c" providerId="ADAL" clId="{CA1B045F-A9BB-455B-91C9-825E53CD6026}" dt="2026-05-13T15:30:45.816" v="66" actId="20577"/>
          <ac:spMkLst>
            <pc:docMk/>
            <pc:sldMk cId="1220308468" sldId="2147483467"/>
            <ac:spMk id="9" creationId="{534217D0-0783-CC58-A7B1-581F4B891EDC}"/>
          </ac:spMkLst>
        </pc:spChg>
      </pc:sldChg>
      <pc:sldChg chg="modSp mod">
        <pc:chgData name="Burkhalter, Curtis" userId="61aabafc-e9f7-40e1-a918-2d21e5c5a12c" providerId="ADAL" clId="{CA1B045F-A9BB-455B-91C9-825E53CD6026}" dt="2026-05-11T14:59:18.602" v="21" actId="20577"/>
        <pc:sldMkLst>
          <pc:docMk/>
          <pc:sldMk cId="2844131748" sldId="2147483469"/>
        </pc:sldMkLst>
        <pc:spChg chg="mod">
          <ac:chgData name="Burkhalter, Curtis" userId="61aabafc-e9f7-40e1-a918-2d21e5c5a12c" providerId="ADAL" clId="{CA1B045F-A9BB-455B-91C9-825E53CD6026}" dt="2026-05-11T14:59:18.602" v="21" actId="20577"/>
          <ac:spMkLst>
            <pc:docMk/>
            <pc:sldMk cId="2844131748" sldId="2147483469"/>
            <ac:spMk id="121" creationId="{9B409F89-B107-F895-F771-B1657A118981}"/>
          </ac:spMkLst>
        </pc:spChg>
      </pc:sldChg>
      <pc:sldChg chg="add">
        <pc:chgData name="Burkhalter, Curtis" userId="61aabafc-e9f7-40e1-a918-2d21e5c5a12c" providerId="ADAL" clId="{CA1B045F-A9BB-455B-91C9-825E53CD6026}" dt="2026-05-11T21:33:43.061" v="22"/>
        <pc:sldMkLst>
          <pc:docMk/>
          <pc:sldMk cId="930882952" sldId="2147483471"/>
        </pc:sldMkLst>
      </pc:sldChg>
      <pc:sldChg chg="modSp add mod ord">
        <pc:chgData name="Burkhalter, Curtis" userId="61aabafc-e9f7-40e1-a918-2d21e5c5a12c" providerId="ADAL" clId="{CA1B045F-A9BB-455B-91C9-825E53CD6026}" dt="2026-05-12T16:21:54.345" v="50" actId="20577"/>
        <pc:sldMkLst>
          <pc:docMk/>
          <pc:sldMk cId="0" sldId="2147483472"/>
        </pc:sldMkLst>
        <pc:spChg chg="mod">
          <ac:chgData name="Burkhalter, Curtis" userId="61aabafc-e9f7-40e1-a918-2d21e5c5a12c" providerId="ADAL" clId="{CA1B045F-A9BB-455B-91C9-825E53CD6026}" dt="2026-05-12T16:21:54.345" v="50" actId="20577"/>
          <ac:spMkLst>
            <pc:docMk/>
            <pc:sldMk cId="0" sldId="214748347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51B5C-8BCA-41FC-B99C-7DB847A9270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ED996-4C1B-4A2F-952B-BBBFFFA27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paradox that's confusing a lot of enterprise finance teams right now.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You see all over LinkedIn that the cloud is getting cheaper every day and token prices are a fraction of what they once were.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this is true, cloud token prices have dropped 280x in two years. And yet enterprise AI spending is up 320%. So how is that possible?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answer is agentic workflows, RAG pipelines, and always-on agents. These consume compute at rates nobody planned for.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Even the AI providers themselves are struggling - OpenAI is projected to lose $14 billion this year, spending $2.25 for every dollar earned. </a:t>
            </a:r>
          </a:p>
          <a:p>
            <a:r>
              <a:rPr lang="en-US" dirty="0"/>
              <a:t>Anthropic has spent over $10B on inference and training against $5B in total revenue.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GitHub Copilot paused new signups for Pro plans in April.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free ride is over. That's the market context we're selling into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16ECA8-0B23-1243-A9DA-BEED3C5643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611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ED996-4C1B-4A2F-952B-BBBFFFA274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29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07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FEE9E222-D2C7-B448-8029-A9B9C61CAA7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0521" t="-430658" r="-36201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HP Logo">
            <a:extLst>
              <a:ext uri="{FF2B5EF4-FFF2-40B4-BE49-F238E27FC236}">
                <a16:creationId xmlns:a16="http://schemas.microsoft.com/office/drawing/2014/main" id="{FD3AD82C-F5A9-D043-00C8-672469C48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F166CCD-2E64-026D-3913-0DB5F4601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CED5B329-7575-9268-0212-C49D5135A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12" name="Text Placeholder - Date">
            <a:extLst>
              <a:ext uri="{FF2B5EF4-FFF2-40B4-BE49-F238E27FC236}">
                <a16:creationId xmlns:a16="http://schemas.microsoft.com/office/drawing/2014/main" id="{4033127B-A035-4769-46DE-A3145D3CCC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163173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FEE9E222-D2C7-B448-8029-A9B9C61CAA7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0521" t="-430658" r="-36201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HP Logo">
            <a:extLst>
              <a:ext uri="{FF2B5EF4-FFF2-40B4-BE49-F238E27FC236}">
                <a16:creationId xmlns:a16="http://schemas.microsoft.com/office/drawing/2014/main" id="{FD3AD82C-F5A9-D043-00C8-672469C48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F166CCD-2E64-026D-3913-0DB5F4601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CED5B329-7575-9268-0212-C49D5135A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12" name="Text Placeholder - Date">
            <a:extLst>
              <a:ext uri="{FF2B5EF4-FFF2-40B4-BE49-F238E27FC236}">
                <a16:creationId xmlns:a16="http://schemas.microsoft.com/office/drawing/2014/main" id="{4033127B-A035-4769-46DE-A3145D3CCC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8622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0% Stripe">
            <a:extLst>
              <a:ext uri="{FF2B5EF4-FFF2-40B4-BE49-F238E27FC236}">
                <a16:creationId xmlns:a16="http://schemas.microsoft.com/office/drawing/2014/main" id="{2F3D3980-BDCE-67D5-6737-72B599959A3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41042" t="-430658" r="-172402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HP Logo">
            <a:extLst>
              <a:ext uri="{FF2B5EF4-FFF2-40B4-BE49-F238E27FC236}">
                <a16:creationId xmlns:a16="http://schemas.microsoft.com/office/drawing/2014/main" id="{616063C0-2936-9CAA-7507-BC6BEBA79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A47CA9CB-1474-51CC-7A85-2B069AABF6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6980022" y="457200"/>
            <a:ext cx="5211979" cy="6400800"/>
          </a:xfrm>
          <a:custGeom>
            <a:avLst/>
            <a:gdLst>
              <a:gd name="connsiteX0" fmla="*/ 2330561 w 5211979"/>
              <a:gd name="connsiteY0" fmla="*/ 0 h 6400800"/>
              <a:gd name="connsiteX1" fmla="*/ 5211979 w 5211979"/>
              <a:gd name="connsiteY1" fmla="*/ 0 h 6400800"/>
              <a:gd name="connsiteX2" fmla="*/ 5211979 w 5211979"/>
              <a:gd name="connsiteY2" fmla="*/ 6400800 h 6400800"/>
              <a:gd name="connsiteX3" fmla="*/ 0 w 5211979"/>
              <a:gd name="connsiteY3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11979" h="6400800">
                <a:moveTo>
                  <a:pt x="2330561" y="0"/>
                </a:moveTo>
                <a:lnTo>
                  <a:pt x="5211979" y="0"/>
                </a:lnTo>
                <a:lnTo>
                  <a:pt x="5211979" y="6400800"/>
                </a:lnTo>
                <a:lnTo>
                  <a:pt x="0" y="64008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itle Placeholder">
            <a:extLst>
              <a:ext uri="{FF2B5EF4-FFF2-40B4-BE49-F238E27FC236}">
                <a16:creationId xmlns:a16="http://schemas.microsoft.com/office/drawing/2014/main" id="{32ECF697-E5F5-8EFA-F287-E1C215070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8FC39273-5EEB-7F0E-8C65-B41740B741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2" name="Text Placeholder - Date">
            <a:extLst>
              <a:ext uri="{FF2B5EF4-FFF2-40B4-BE49-F238E27FC236}">
                <a16:creationId xmlns:a16="http://schemas.microsoft.com/office/drawing/2014/main" id="{0BF79201-BB74-294B-A154-80C4C73B8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62270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C507D5AC-31A9-ADAA-E4AC-F48CE3334B3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50194" t="-187375" r="-212322" b="-71263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HP Logo">
            <a:extLst>
              <a:ext uri="{FF2B5EF4-FFF2-40B4-BE49-F238E27FC236}">
                <a16:creationId xmlns:a16="http://schemas.microsoft.com/office/drawing/2014/main" id="{63B29CC2-08DA-59B2-2819-645AF6008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5" name="Title Placeholder">
            <a:extLst>
              <a:ext uri="{FF2B5EF4-FFF2-40B4-BE49-F238E27FC236}">
                <a16:creationId xmlns:a16="http://schemas.microsoft.com/office/drawing/2014/main" id="{EF5C4A46-7D25-AD10-5409-ADAB9B6F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1761" y="1544225"/>
            <a:ext cx="5257800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Presentation title in 1-3 lines maximum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27104820-5B51-1535-C638-B4A3F6C8A2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3033" y="3833352"/>
            <a:ext cx="5246528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7" name="Text Placeholder - Date">
            <a:extLst>
              <a:ext uri="{FF2B5EF4-FFF2-40B4-BE49-F238E27FC236}">
                <a16:creationId xmlns:a16="http://schemas.microsoft.com/office/drawing/2014/main" id="{D699546F-FC9B-E419-CC9B-7EB33899D2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145656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HP Logo">
            <a:extLst>
              <a:ext uri="{FF2B5EF4-FFF2-40B4-BE49-F238E27FC236}">
                <a16:creationId xmlns:a16="http://schemas.microsoft.com/office/drawing/2014/main" id="{5EB633F3-413A-9E4B-EBD2-A260368AE8CC}"/>
              </a:ext>
            </a:extLst>
          </p:cNvPr>
          <p:cNvSpPr>
            <a:spLocks noGrp="1" noChangeAspect="1"/>
          </p:cNvSpPr>
          <p:nvPr>
            <p:ph type="clipArt" sz="quarter" idx="17" hasCustomPrompt="1"/>
          </p:nvPr>
        </p:nvSpPr>
        <p:spPr>
          <a:xfrm>
            <a:off x="435600" y="5785200"/>
            <a:ext cx="640798" cy="6408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2AAAF2F-FA06-7816-E02C-03F08F05A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216295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7D5245EC-F86B-29A9-FC60-AA10E4DD77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505422"/>
            <a:ext cx="6795212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3" name="Text Placeholder - Date">
            <a:extLst>
              <a:ext uri="{FF2B5EF4-FFF2-40B4-BE49-F238E27FC236}">
                <a16:creationId xmlns:a16="http://schemas.microsoft.com/office/drawing/2014/main" id="{0A23B438-8806-7529-E6F5-1F08C4A82B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386460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00% Stripe">
            <a:extLst>
              <a:ext uri="{FF2B5EF4-FFF2-40B4-BE49-F238E27FC236}">
                <a16:creationId xmlns:a16="http://schemas.microsoft.com/office/drawing/2014/main" id="{9C374ACB-6F53-0661-ED4B-F72AFB14E515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48502" t="-342356" r="-82754" b="-576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1E55DF1-35AF-1EB2-8104-2ABA79A3DE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3921771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438D89D3-9796-2924-1A45-BE792614F5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3910284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398346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00% Stripe">
            <a:extLst>
              <a:ext uri="{FF2B5EF4-FFF2-40B4-BE49-F238E27FC236}">
                <a16:creationId xmlns:a16="http://schemas.microsoft.com/office/drawing/2014/main" id="{0E802734-A9B4-85E8-B66F-C278C31CB1A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4685211" cy="68580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126213" t="-342356" r="-375568" b="-576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3B5F0DAA-E440-2705-048F-5000042E85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55411" y="0"/>
            <a:ext cx="6139067" cy="6858001"/>
          </a:xfrm>
          <a:custGeom>
            <a:avLst/>
            <a:gdLst>
              <a:gd name="connsiteX0" fmla="*/ 2497031 w 6139067"/>
              <a:gd name="connsiteY0" fmla="*/ 0 h 6858001"/>
              <a:gd name="connsiteX1" fmla="*/ 6139067 w 6139067"/>
              <a:gd name="connsiteY1" fmla="*/ 0 h 6858001"/>
              <a:gd name="connsiteX2" fmla="*/ 3642036 w 6139067"/>
              <a:gd name="connsiteY2" fmla="*/ 6858001 h 6858001"/>
              <a:gd name="connsiteX3" fmla="*/ 0 w 6139067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39067" h="6858001">
                <a:moveTo>
                  <a:pt x="2497031" y="0"/>
                </a:moveTo>
                <a:lnTo>
                  <a:pt x="6139067" y="0"/>
                </a:lnTo>
                <a:lnTo>
                  <a:pt x="3642036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F92A9C50-E363-2D2B-3998-E7A75C670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3921771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A4B0D6E0-C654-EA28-91D2-C5ECD5E1C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3910284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226087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7B7B67D7-5A04-1DED-99CE-7276E4D4B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7196368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4" name="Text Placeholder ">
            <a:extLst>
              <a:ext uri="{FF2B5EF4-FFF2-40B4-BE49-F238E27FC236}">
                <a16:creationId xmlns:a16="http://schemas.microsoft.com/office/drawing/2014/main" id="{6F1CEA07-5F1C-CAB3-5B77-732A09119B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7175290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203066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5E0F7FBD-F13C-8257-9866-4ABD84856660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2C41C54-1360-2544-8A82-E26D6B8AB7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6E2F0EF6-FE54-13AD-F6A1-33E947AFB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64018"/>
            <a:ext cx="8385175" cy="5898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C8E2773D-6921-CA71-1751-1C4EB6FB17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874259"/>
            <a:ext cx="8385175" cy="29312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842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681B4596-64F0-C548-23E7-B0230E3B9452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56698" r="747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1E7DE152-801C-8C7C-7037-239E068715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21448"/>
            <a:ext cx="5864087" cy="347524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731520" indent="-274320"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363746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% Stripe">
            <a:extLst>
              <a:ext uri="{FF2B5EF4-FFF2-40B4-BE49-F238E27FC236}">
                <a16:creationId xmlns:a16="http://schemas.microsoft.com/office/drawing/2014/main" id="{021E49BE-73F2-F9AA-1F40-53408D214331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302" t="51874" r="57872" b="-5187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F1FFF74F-C724-FABF-8173-20ED9271EF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47883" y="404814"/>
            <a:ext cx="5244117" cy="6453187"/>
          </a:xfrm>
          <a:custGeom>
            <a:avLst/>
            <a:gdLst>
              <a:gd name="connsiteX0" fmla="*/ 2349636 w 5244117"/>
              <a:gd name="connsiteY0" fmla="*/ 0 h 6453187"/>
              <a:gd name="connsiteX1" fmla="*/ 5244117 w 5244117"/>
              <a:gd name="connsiteY1" fmla="*/ 0 h 6453187"/>
              <a:gd name="connsiteX2" fmla="*/ 5244117 w 5244117"/>
              <a:gd name="connsiteY2" fmla="*/ 6453187 h 6453187"/>
              <a:gd name="connsiteX3" fmla="*/ 0 w 5244117"/>
              <a:gd name="connsiteY3" fmla="*/ 6453187 h 64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4117" h="6453187">
                <a:moveTo>
                  <a:pt x="2349636" y="0"/>
                </a:moveTo>
                <a:lnTo>
                  <a:pt x="5244117" y="0"/>
                </a:lnTo>
                <a:lnTo>
                  <a:pt x="5244117" y="6453187"/>
                </a:lnTo>
                <a:lnTo>
                  <a:pt x="0" y="645318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9B288A2-FE8C-B36A-DC50-0263F10C6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37216"/>
            <a:ext cx="6626492" cy="10463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644525" indent="-182563"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179813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HP Logo">
            <a:extLst>
              <a:ext uri="{FF2B5EF4-FFF2-40B4-BE49-F238E27FC236}">
                <a16:creationId xmlns:a16="http://schemas.microsoft.com/office/drawing/2014/main" id="{5FB3AE65-B98C-3F3E-86FD-0AA2DA0DFAB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14B366E-D7A8-C53E-3C00-61559A0D75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Placeholder ">
            <a:extLst>
              <a:ext uri="{FF2B5EF4-FFF2-40B4-BE49-F238E27FC236}">
                <a16:creationId xmlns:a16="http://schemas.microsoft.com/office/drawing/2014/main" id="{98961E33-64A8-DAE9-6C08-03A0406C6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743670"/>
            <a:ext cx="4835471" cy="1738874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 marL="496888" indent="-182563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180913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E657F100-AB34-6DA1-4A9E-DE35E7A01AA1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6C3A5969-5292-F9EB-8F65-97724B36F1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HP Logo">
            <a:extLst>
              <a:ext uri="{FF2B5EF4-FFF2-40B4-BE49-F238E27FC236}">
                <a16:creationId xmlns:a16="http://schemas.microsoft.com/office/drawing/2014/main" id="{D212C702-2E95-3929-27AA-49DE66FCDD8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99A4CF8-7B03-961E-3A4F-1961FD75B2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B93EB844-B484-B5B6-2B97-D4ACA5266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0490" y="3259201"/>
            <a:ext cx="4540571" cy="23992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 marL="731520" indent="-182880"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42839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191E74A0-4844-8EBF-1400-9934EE0A390D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55001DE8-22B1-16BC-1B27-1E369A89A4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HP Logo">
            <a:extLst>
              <a:ext uri="{FF2B5EF4-FFF2-40B4-BE49-F238E27FC236}">
                <a16:creationId xmlns:a16="http://schemas.microsoft.com/office/drawing/2014/main" id="{DEC9E220-FB18-31FF-0BAA-E2449246F04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C3BDEDA-EDDE-6EB0-985F-EF086273C6C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6938044E-C214-ABE6-6B9D-DFE447959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53939" y="1341582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06341798-CAA7-F4C7-8DE2-464168DE8E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3939" y="1643781"/>
            <a:ext cx="2849272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+mj-lt"/>
              </a:defRPr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Subtitle">
            <a:extLst>
              <a:ext uri="{FF2B5EF4-FFF2-40B4-BE49-F238E27FC236}">
                <a16:creationId xmlns:a16="http://schemas.microsoft.com/office/drawing/2014/main" id="{34FD35AA-BE4E-E5C8-E9D6-3B9224D800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3939" y="2798664"/>
            <a:ext cx="2849272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7" name="Text Placeholder Body">
            <a:extLst>
              <a:ext uri="{FF2B5EF4-FFF2-40B4-BE49-F238E27FC236}">
                <a16:creationId xmlns:a16="http://schemas.microsoft.com/office/drawing/2014/main" id="{06FA3C8C-1901-9B5B-2195-E59A86AAE2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3939" y="3576638"/>
            <a:ext cx="2851200" cy="2228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622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A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0% Stripe">
            <a:extLst>
              <a:ext uri="{FF2B5EF4-FFF2-40B4-BE49-F238E27FC236}">
                <a16:creationId xmlns:a16="http://schemas.microsoft.com/office/drawing/2014/main" id="{FC96B1B6-1981-3C53-7AA9-AF55E7B94953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17148" t="-65285" r="47026" b="652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55001DE8-22B1-16BC-1B27-1E369A89A4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6FBF79-816D-C990-285B-C912F724608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6938044E-C214-ABE6-6B9D-DFE447959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1341582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06341798-CAA7-F4C7-8DE2-464168DE8E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643781"/>
            <a:ext cx="2849272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+mj-lt"/>
              </a:defRPr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Subtitle">
            <a:extLst>
              <a:ext uri="{FF2B5EF4-FFF2-40B4-BE49-F238E27FC236}">
                <a16:creationId xmlns:a16="http://schemas.microsoft.com/office/drawing/2014/main" id="{34FD35AA-BE4E-E5C8-E9D6-3B9224D800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2798664"/>
            <a:ext cx="2849272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4" name="Text Placeholder Body">
            <a:extLst>
              <a:ext uri="{FF2B5EF4-FFF2-40B4-BE49-F238E27FC236}">
                <a16:creationId xmlns:a16="http://schemas.microsoft.com/office/drawing/2014/main" id="{42C507F9-AB83-08EB-6A55-4EC9B0BE6E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3500" y="3576638"/>
            <a:ext cx="2851200" cy="2228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089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% Stripe">
            <a:extLst>
              <a:ext uri="{FF2B5EF4-FFF2-40B4-BE49-F238E27FC236}">
                <a16:creationId xmlns:a16="http://schemas.microsoft.com/office/drawing/2014/main" id="{6C3F682B-0019-6735-A7EA-478E48D8DD05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56698" r="747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 Placeholder Section Title">
            <a:extLst>
              <a:ext uri="{FF2B5EF4-FFF2-40B4-BE49-F238E27FC236}">
                <a16:creationId xmlns:a16="http://schemas.microsoft.com/office/drawing/2014/main" id="{4F4ADB8E-CC00-AFB7-C822-46F24E2B3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itle Placeholder">
            <a:extLst>
              <a:ext uri="{FF2B5EF4-FFF2-40B4-BE49-F238E27FC236}">
                <a16:creationId xmlns:a16="http://schemas.microsoft.com/office/drawing/2014/main" id="{E8FC39EE-5F3F-F1AA-7202-5CF7DF01B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0"/>
            <a:ext cx="6000720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26" name="Text PlaceholderSubtitle">
            <a:extLst>
              <a:ext uri="{FF2B5EF4-FFF2-40B4-BE49-F238E27FC236}">
                <a16:creationId xmlns:a16="http://schemas.microsoft.com/office/drawing/2014/main" id="{E90FED71-744C-64E5-EAB3-06FE2A33F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6000720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30" name="Text Placeholder Body 1">
            <a:extLst>
              <a:ext uri="{FF2B5EF4-FFF2-40B4-BE49-F238E27FC236}">
                <a16:creationId xmlns:a16="http://schemas.microsoft.com/office/drawing/2014/main" id="{BA687A48-0B3C-7B75-FCD0-73249615EE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691502"/>
            <a:ext cx="2855159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1" name="Text Placeholder Body 2">
            <a:extLst>
              <a:ext uri="{FF2B5EF4-FFF2-40B4-BE49-F238E27FC236}">
                <a16:creationId xmlns:a16="http://schemas.microsoft.com/office/drawing/2014/main" id="{7C32423F-8905-366D-596D-51841B5B85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9008" y="2691502"/>
            <a:ext cx="2854800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412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0% Stripe">
            <a:extLst>
              <a:ext uri="{FF2B5EF4-FFF2-40B4-BE49-F238E27FC236}">
                <a16:creationId xmlns:a16="http://schemas.microsoft.com/office/drawing/2014/main" id="{768D5808-0601-CFA1-ECB4-20EE91E3223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3814" r="603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E730E-F1FA-57DE-B7B0-B35D6B07D7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Section Title">
            <a:extLst>
              <a:ext uri="{FF2B5EF4-FFF2-40B4-BE49-F238E27FC236}">
                <a16:creationId xmlns:a16="http://schemas.microsoft.com/office/drawing/2014/main" id="{4F4ADB8E-CC00-AFB7-C822-46F24E2B3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9626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itle Placeholder">
            <a:extLst>
              <a:ext uri="{FF2B5EF4-FFF2-40B4-BE49-F238E27FC236}">
                <a16:creationId xmlns:a16="http://schemas.microsoft.com/office/drawing/2014/main" id="{E8FC39EE-5F3F-F1AA-7202-5CF7DF01B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626" y="743670"/>
            <a:ext cx="2858486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26" name="Text Placeholder Subtitle">
            <a:extLst>
              <a:ext uri="{FF2B5EF4-FFF2-40B4-BE49-F238E27FC236}">
                <a16:creationId xmlns:a16="http://schemas.microsoft.com/office/drawing/2014/main" id="{E90FED71-744C-64E5-EAB3-06FE2A33F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626" y="1898553"/>
            <a:ext cx="2858486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30" name="Text Placeholder Body">
            <a:extLst>
              <a:ext uri="{FF2B5EF4-FFF2-40B4-BE49-F238E27FC236}">
                <a16:creationId xmlns:a16="http://schemas.microsoft.com/office/drawing/2014/main" id="{BA687A48-0B3C-7B75-FCD0-73249615EE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9627" y="2691502"/>
            <a:ext cx="2858486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72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00% Stripe">
            <a:extLst>
              <a:ext uri="{FF2B5EF4-FFF2-40B4-BE49-F238E27FC236}">
                <a16:creationId xmlns:a16="http://schemas.microsoft.com/office/drawing/2014/main" id="{715FE892-E39A-E260-BEF0-443B9DB3D43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A30408C-AF8B-8A3A-0162-ECD54E547FB6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597050B1-A26B-B348-EFC5-17E814BA79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D8678CA-682B-979C-CD30-A10F07F5B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0"/>
            <a:ext cx="9166825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589BAA20-F6BF-9B17-CC05-EDEA542E0A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9166825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10" name="Text Placeholder Subhead 1">
            <a:extLst>
              <a:ext uri="{FF2B5EF4-FFF2-40B4-BE49-F238E27FC236}">
                <a16:creationId xmlns:a16="http://schemas.microsoft.com/office/drawing/2014/main" id="{8F45DC4B-E54A-7DD6-5DCE-8AA4950091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934502"/>
            <a:ext cx="1718278" cy="2462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9" name="Text Placeholder Body 1">
            <a:extLst>
              <a:ext uri="{FF2B5EF4-FFF2-40B4-BE49-F238E27FC236}">
                <a16:creationId xmlns:a16="http://schemas.microsoft.com/office/drawing/2014/main" id="{C22A7759-7B08-66FA-EEB8-23B82B0EDD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6C90B9F2-F4CA-2849-AC01-CE6EB6808B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69064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251EB063-6D50-B534-0000-A85587FEBB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9064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4" name="Text Placeholder Subhead 3">
            <a:extLst>
              <a:ext uri="{FF2B5EF4-FFF2-40B4-BE49-F238E27FC236}">
                <a16:creationId xmlns:a16="http://schemas.microsoft.com/office/drawing/2014/main" id="{C747A4E7-9EF8-AAE5-FF17-97DB6068C7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0928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3" name="Text Placeholder Body 3">
            <a:extLst>
              <a:ext uri="{FF2B5EF4-FFF2-40B4-BE49-F238E27FC236}">
                <a16:creationId xmlns:a16="http://schemas.microsoft.com/office/drawing/2014/main" id="{EE3EC1B5-FF10-E813-D713-EF4595D59F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0928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6" name="Text Placeholder Subhead 4">
            <a:extLst>
              <a:ext uri="{FF2B5EF4-FFF2-40B4-BE49-F238E27FC236}">
                <a16:creationId xmlns:a16="http://schemas.microsoft.com/office/drawing/2014/main" id="{5E74D773-1F99-3E88-5950-B9BC6B4AF2D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2792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5" name="Text Placeholder Body 4">
            <a:extLst>
              <a:ext uri="{FF2B5EF4-FFF2-40B4-BE49-F238E27FC236}">
                <a16:creationId xmlns:a16="http://schemas.microsoft.com/office/drawing/2014/main" id="{915FBD73-F4E4-6C3D-EEDE-6E116F5C95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792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8" name="Text Placeholder Subhead 5">
            <a:extLst>
              <a:ext uri="{FF2B5EF4-FFF2-40B4-BE49-F238E27FC236}">
                <a16:creationId xmlns:a16="http://schemas.microsoft.com/office/drawing/2014/main" id="{8716AFDE-E8C9-F809-747F-198849EC9B6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04656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7" name="Text Placeholder Body 5">
            <a:extLst>
              <a:ext uri="{FF2B5EF4-FFF2-40B4-BE49-F238E27FC236}">
                <a16:creationId xmlns:a16="http://schemas.microsoft.com/office/drawing/2014/main" id="{626B2A26-145B-2E8A-4F16-C4166C060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04656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0" name="Text Placeholder Subhead 6">
            <a:extLst>
              <a:ext uri="{FF2B5EF4-FFF2-40B4-BE49-F238E27FC236}">
                <a16:creationId xmlns:a16="http://schemas.microsoft.com/office/drawing/2014/main" id="{7C8BE245-A0B3-6520-D60A-4F997AD7B65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16522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9" name="Text Placeholder Body 6">
            <a:extLst>
              <a:ext uri="{FF2B5EF4-FFF2-40B4-BE49-F238E27FC236}">
                <a16:creationId xmlns:a16="http://schemas.microsoft.com/office/drawing/2014/main" id="{E846F70D-A193-A749-9126-DB8F619981C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16522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8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0% Stripe">
            <a:extLst>
              <a:ext uri="{FF2B5EF4-FFF2-40B4-BE49-F238E27FC236}">
                <a16:creationId xmlns:a16="http://schemas.microsoft.com/office/drawing/2014/main" id="{88316B89-6DD6-DFE0-993F-2BD268336069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31069" t="14918" r="-10585" b="-69239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D6872559-2221-7948-988C-BD799DA81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1" y="2949677"/>
            <a:ext cx="5524499" cy="9536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75000"/>
              </a:lnSpc>
              <a:defRPr sz="6200" b="1" i="0"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742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000% Stripe">
            <a:extLst>
              <a:ext uri="{FF2B5EF4-FFF2-40B4-BE49-F238E27FC236}">
                <a16:creationId xmlns:a16="http://schemas.microsoft.com/office/drawing/2014/main" id="{D95A311B-A27A-3299-76E4-EEB8C4FF1BF7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31069" t="14918" r="-10585" b="-69239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HP Logo">
            <a:extLst>
              <a:ext uri="{FF2B5EF4-FFF2-40B4-BE49-F238E27FC236}">
                <a16:creationId xmlns:a16="http://schemas.microsoft.com/office/drawing/2014/main" id="{A3BFCA15-BE7A-64C7-6EB6-9BE14A87C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7210" y="3418998"/>
            <a:ext cx="919655" cy="9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0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B7C1AC3-524E-8C33-270F-E7C99278D2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0902B79E-E8A3-1BAE-158B-16C1F7CF35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75188F2D-77F8-2852-93EB-92CC83AE8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9734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27B96E57-9D49-C002-D5FE-433D28189E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15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0421F85-12B9-6441-D6A9-97835AF76D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45A8C35D-FEC5-EA44-C336-68090247F4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F39E5016-CC21-E5AE-DD36-FC1CA650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1136970"/>
            <a:ext cx="1127880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099B6F11-4885-0DE9-0E99-3B9E79CC6D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2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5B0E2F6-24DE-0884-D261-519B68A9730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7C39A41C-2A31-66E4-F679-EB0D2040C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AC38AE-33C4-2144-8AE8-E321E9BA5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2" name="Text Placeholder Subtitle">
            <a:extLst>
              <a:ext uri="{FF2B5EF4-FFF2-40B4-BE49-F238E27FC236}">
                <a16:creationId xmlns:a16="http://schemas.microsoft.com/office/drawing/2014/main" id="{AB164EB7-64B7-6185-24C3-8199AED2D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489708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193E429C-2EF8-B9CB-A477-44FA6A73F09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2207622"/>
            <a:ext cx="5491163" cy="359786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658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37A497F-4224-2320-B8F7-09AB5609A8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45A8C35D-FEC5-EA44-C336-68090247F4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7" name="Text Placeholder Subtitle">
            <a:extLst>
              <a:ext uri="{FF2B5EF4-FFF2-40B4-BE49-F238E27FC236}">
                <a16:creationId xmlns:a16="http://schemas.microsoft.com/office/drawing/2014/main" id="{348E0F53-7312-3463-2CB1-A370E828A9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">
            <a:extLst>
              <a:ext uri="{FF2B5EF4-FFF2-40B4-BE49-F238E27FC236}">
                <a16:creationId xmlns:a16="http://schemas.microsoft.com/office/drawing/2014/main" id="{74BBF8D5-D0AE-13E9-5DEC-29503C9F67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 rIns="147600"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2" name="Text Placeholder Body">
            <a:extLst>
              <a:ext uri="{FF2B5EF4-FFF2-40B4-BE49-F238E27FC236}">
                <a16:creationId xmlns:a16="http://schemas.microsoft.com/office/drawing/2014/main" id="{8596D0EC-D6DF-3830-B23E-3670D2ECC7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3562350" cy="3706688"/>
          </a:xfrm>
        </p:spPr>
        <p:txBody>
          <a:bodyPr vert="horz" lIns="0" tIns="0" rIns="14760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602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AF298246-878D-BA5B-62D1-6214A58350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57200" y="1793876"/>
            <a:ext cx="5491163" cy="400873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">
            <a:extLst>
              <a:ext uri="{FF2B5EF4-FFF2-40B4-BE49-F238E27FC236}">
                <a16:creationId xmlns:a16="http://schemas.microsoft.com/office/drawing/2014/main" id="{AB4CEFF3-4703-70F8-96B0-BF8AB4C22C8B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B3F36132-EF79-2728-C551-EFAB7FF45F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BDB3EA29-5ECB-38B3-A159-887F3DA47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28" name="Text Placeholder Subtitle">
            <a:extLst>
              <a:ext uri="{FF2B5EF4-FFF2-40B4-BE49-F238E27FC236}">
                <a16:creationId xmlns:a16="http://schemas.microsoft.com/office/drawing/2014/main" id="{BFEF618A-5698-C4E8-4397-B91D1B92D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 1">
            <a:extLst>
              <a:ext uri="{FF2B5EF4-FFF2-40B4-BE49-F238E27FC236}">
                <a16:creationId xmlns:a16="http://schemas.microsoft.com/office/drawing/2014/main" id="{F41E4278-8CE3-B68C-9891-D2BCD228A3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3639" y="1758587"/>
            <a:ext cx="163353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" name="Text Placeholder Body 1">
            <a:extLst>
              <a:ext uri="{FF2B5EF4-FFF2-40B4-BE49-F238E27FC236}">
                <a16:creationId xmlns:a16="http://schemas.microsoft.com/office/drawing/2014/main" id="{6D9F4D9B-D6EB-9569-E5A9-3DA4161B2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3639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7" name="Text Placeholder Subhead 2">
            <a:extLst>
              <a:ext uri="{FF2B5EF4-FFF2-40B4-BE49-F238E27FC236}">
                <a16:creationId xmlns:a16="http://schemas.microsoft.com/office/drawing/2014/main" id="{E6779A25-9066-206D-6BF3-99E5AB410C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2" y="1758587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" name="Text Placeholder Body 2">
            <a:extLst>
              <a:ext uri="{FF2B5EF4-FFF2-40B4-BE49-F238E27FC236}">
                <a16:creationId xmlns:a16="http://schemas.microsoft.com/office/drawing/2014/main" id="{535664BA-E1D4-1639-AE7D-DD8AABD305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452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0" name="Text Placeholder Subhead 3">
            <a:extLst>
              <a:ext uri="{FF2B5EF4-FFF2-40B4-BE49-F238E27FC236}">
                <a16:creationId xmlns:a16="http://schemas.microsoft.com/office/drawing/2014/main" id="{665376A9-97DC-795D-7763-9CA2D8CCD6D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3" y="1758587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9" name="Text Placeholder Body 3">
            <a:extLst>
              <a:ext uri="{FF2B5EF4-FFF2-40B4-BE49-F238E27FC236}">
                <a16:creationId xmlns:a16="http://schemas.microsoft.com/office/drawing/2014/main" id="{6B52A46E-3260-F849-9C0F-5DB160986C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101263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2" name="Text Placeholder Subhead 4">
            <a:extLst>
              <a:ext uri="{FF2B5EF4-FFF2-40B4-BE49-F238E27FC236}">
                <a16:creationId xmlns:a16="http://schemas.microsoft.com/office/drawing/2014/main" id="{D3946EC2-38F5-78CF-2DF0-BBF07E9E6B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3639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1" name="Text Placeholder Body 4">
            <a:extLst>
              <a:ext uri="{FF2B5EF4-FFF2-40B4-BE49-F238E27FC236}">
                <a16:creationId xmlns:a16="http://schemas.microsoft.com/office/drawing/2014/main" id="{3421E364-6AC5-46CA-54BB-2E7C589EC2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3639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7" name="Text Placeholder Subhead 5">
            <a:extLst>
              <a:ext uri="{FF2B5EF4-FFF2-40B4-BE49-F238E27FC236}">
                <a16:creationId xmlns:a16="http://schemas.microsoft.com/office/drawing/2014/main" id="{0FBA1A53-4A19-104C-5B3B-94AC2412EA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72452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3" name="Text Placeholder Body 5">
            <a:extLst>
              <a:ext uri="{FF2B5EF4-FFF2-40B4-BE49-F238E27FC236}">
                <a16:creationId xmlns:a16="http://schemas.microsoft.com/office/drawing/2014/main" id="{262F0E29-8654-ECA5-18B1-DAD3CB560C7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72452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0" name="Text Placeholder Subhead 6">
            <a:extLst>
              <a:ext uri="{FF2B5EF4-FFF2-40B4-BE49-F238E27FC236}">
                <a16:creationId xmlns:a16="http://schemas.microsoft.com/office/drawing/2014/main" id="{B7B4F202-C8EF-7975-D17F-85E0E8AE4B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01263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9" name="Text Placeholder Body 6">
            <a:extLst>
              <a:ext uri="{FF2B5EF4-FFF2-40B4-BE49-F238E27FC236}">
                <a16:creationId xmlns:a16="http://schemas.microsoft.com/office/drawing/2014/main" id="{FB60F6A8-DFEB-349C-213B-23B9B7ABC4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01263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189DCF0-04FE-7110-FA5B-E473EE0F5487}"/>
              </a:ext>
            </a:extLst>
          </p:cNvPr>
          <p:cNvSpPr>
            <a:spLocks noGrp="1"/>
          </p:cNvSpPr>
          <p:nvPr>
            <p:ph type="ftr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8E0EBA0D-2160-4EAA-484C-FEDAEB666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04DFCA9F-55D2-8A8B-4521-6284641C4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6" name="Text Placeholder Subtitle">
            <a:extLst>
              <a:ext uri="{FF2B5EF4-FFF2-40B4-BE49-F238E27FC236}">
                <a16:creationId xmlns:a16="http://schemas.microsoft.com/office/drawing/2014/main" id="{64CBA579-76CF-8EA2-BF00-E6605F2EA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48" name="Text Placeholder Subhead 1">
            <a:extLst>
              <a:ext uri="{FF2B5EF4-FFF2-40B4-BE49-F238E27FC236}">
                <a16:creationId xmlns:a16="http://schemas.microsoft.com/office/drawing/2014/main" id="{05E45D0E-FAD1-9C48-3F63-24893ADABB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7199" y="1758587"/>
            <a:ext cx="16335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7" name="Text Placeholder Body 1">
            <a:extLst>
              <a:ext uri="{FF2B5EF4-FFF2-40B4-BE49-F238E27FC236}">
                <a16:creationId xmlns:a16="http://schemas.microsoft.com/office/drawing/2014/main" id="{3EB862C2-5B5F-68DE-BF11-24F5E8E9A2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7199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0" name="Text Placeholder Subhead 2">
            <a:extLst>
              <a:ext uri="{FF2B5EF4-FFF2-40B4-BE49-F238E27FC236}">
                <a16:creationId xmlns:a16="http://schemas.microsoft.com/office/drawing/2014/main" id="{DF5B1B65-1A7B-C645-F7D0-DA8769288E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384435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9" name="Text Placeholder Body 2">
            <a:extLst>
              <a:ext uri="{FF2B5EF4-FFF2-40B4-BE49-F238E27FC236}">
                <a16:creationId xmlns:a16="http://schemas.microsoft.com/office/drawing/2014/main" id="{BB0A18CE-5619-177C-1C35-C22227BECDE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384435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2" name="Text Placeholder Subhead 3">
            <a:extLst>
              <a:ext uri="{FF2B5EF4-FFF2-40B4-BE49-F238E27FC236}">
                <a16:creationId xmlns:a16="http://schemas.microsoft.com/office/drawing/2014/main" id="{893D1B72-FFB4-2FBE-A855-2EB4D506D19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14825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1" name="Text Placeholder Body 3">
            <a:extLst>
              <a:ext uri="{FF2B5EF4-FFF2-40B4-BE49-F238E27FC236}">
                <a16:creationId xmlns:a16="http://schemas.microsoft.com/office/drawing/2014/main" id="{363796DF-FF84-E6DC-2CA6-3E8D06C8B5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14825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7" name="Text Placeholder Subhead 4">
            <a:extLst>
              <a:ext uri="{FF2B5EF4-FFF2-40B4-BE49-F238E27FC236}">
                <a16:creationId xmlns:a16="http://schemas.microsoft.com/office/drawing/2014/main" id="{40A490C7-CC7B-8F06-D77F-0E5787298F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3638" y="1758587"/>
            <a:ext cx="16335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6" name="Text Placeholder Body 4">
            <a:extLst>
              <a:ext uri="{FF2B5EF4-FFF2-40B4-BE49-F238E27FC236}">
                <a16:creationId xmlns:a16="http://schemas.microsoft.com/office/drawing/2014/main" id="{0FC5BBB7-042E-6709-3DDD-753ACC0C9D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3638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9" name="Text Placeholder Subhead 5">
            <a:extLst>
              <a:ext uri="{FF2B5EF4-FFF2-40B4-BE49-F238E27FC236}">
                <a16:creationId xmlns:a16="http://schemas.microsoft.com/office/drawing/2014/main" id="{9A53B5F2-EBB6-5CE9-7B3A-CEE19704B1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1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8" name="Text Placeholder Body 5">
            <a:extLst>
              <a:ext uri="{FF2B5EF4-FFF2-40B4-BE49-F238E27FC236}">
                <a16:creationId xmlns:a16="http://schemas.microsoft.com/office/drawing/2014/main" id="{5254FDF7-4630-8CC2-C032-EE8877C4A8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451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1" name="Text Placeholder Subhead 6">
            <a:extLst>
              <a:ext uri="{FF2B5EF4-FFF2-40B4-BE49-F238E27FC236}">
                <a16:creationId xmlns:a16="http://schemas.microsoft.com/office/drawing/2014/main" id="{4E0BC98E-D36F-1C01-A8D9-930B3FD81AC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4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0" name="Text Placeholder Body 6">
            <a:extLst>
              <a:ext uri="{FF2B5EF4-FFF2-40B4-BE49-F238E27FC236}">
                <a16:creationId xmlns:a16="http://schemas.microsoft.com/office/drawing/2014/main" id="{197CBA45-70A9-A0BD-21BD-B0A0503C489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101264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4" name="Text Placeholder Subhead 7">
            <a:extLst>
              <a:ext uri="{FF2B5EF4-FFF2-40B4-BE49-F238E27FC236}">
                <a16:creationId xmlns:a16="http://schemas.microsoft.com/office/drawing/2014/main" id="{AFA46116-7C2C-7633-DF4F-B58BA6DE2F1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7199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3" name="Text Placeholder Body 7">
            <a:extLst>
              <a:ext uri="{FF2B5EF4-FFF2-40B4-BE49-F238E27FC236}">
                <a16:creationId xmlns:a16="http://schemas.microsoft.com/office/drawing/2014/main" id="{8D7183CB-D173-A589-589C-442075BF00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199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6" name="Text Placeholder Subhead 8">
            <a:extLst>
              <a:ext uri="{FF2B5EF4-FFF2-40B4-BE49-F238E27FC236}">
                <a16:creationId xmlns:a16="http://schemas.microsoft.com/office/drawing/2014/main" id="{3DC74516-2172-D2A5-7D88-312920125BF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384435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5" name="Text Placeholder Body 8">
            <a:extLst>
              <a:ext uri="{FF2B5EF4-FFF2-40B4-BE49-F238E27FC236}">
                <a16:creationId xmlns:a16="http://schemas.microsoft.com/office/drawing/2014/main" id="{186263C1-4672-42EA-2413-445735BE57E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384435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8" name="Text Placeholder Subhead 9">
            <a:extLst>
              <a:ext uri="{FF2B5EF4-FFF2-40B4-BE49-F238E27FC236}">
                <a16:creationId xmlns:a16="http://schemas.microsoft.com/office/drawing/2014/main" id="{C71007DD-1C4E-04E8-2DD2-2C9EAE00FF1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14825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7" name="Text Placeholder Body 9">
            <a:extLst>
              <a:ext uri="{FF2B5EF4-FFF2-40B4-BE49-F238E27FC236}">
                <a16:creationId xmlns:a16="http://schemas.microsoft.com/office/drawing/2014/main" id="{8AF842DA-B357-EB33-892E-A8A351D1AD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314825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3" name="Text Placeholder Subhead 10">
            <a:extLst>
              <a:ext uri="{FF2B5EF4-FFF2-40B4-BE49-F238E27FC236}">
                <a16:creationId xmlns:a16="http://schemas.microsoft.com/office/drawing/2014/main" id="{8E484D84-132E-71EF-0A5C-1B713AD000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3638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2" name="Text Placeholder Body 10">
            <a:extLst>
              <a:ext uri="{FF2B5EF4-FFF2-40B4-BE49-F238E27FC236}">
                <a16:creationId xmlns:a16="http://schemas.microsoft.com/office/drawing/2014/main" id="{9A4A6DC2-0154-7415-E980-C05AA6062A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3638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5" name="Text Placeholder Subhead 11">
            <a:extLst>
              <a:ext uri="{FF2B5EF4-FFF2-40B4-BE49-F238E27FC236}">
                <a16:creationId xmlns:a16="http://schemas.microsoft.com/office/drawing/2014/main" id="{0CC5B1D5-3C25-E672-0317-41553EE697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72451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4" name="Text Placeholder Body 11">
            <a:extLst>
              <a:ext uri="{FF2B5EF4-FFF2-40B4-BE49-F238E27FC236}">
                <a16:creationId xmlns:a16="http://schemas.microsoft.com/office/drawing/2014/main" id="{5CBE3926-059E-5097-032A-D392DBF3A5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72451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45" name="Text Placeholder Subhead 12">
            <a:extLst>
              <a:ext uri="{FF2B5EF4-FFF2-40B4-BE49-F238E27FC236}">
                <a16:creationId xmlns:a16="http://schemas.microsoft.com/office/drawing/2014/main" id="{24BC0FFA-90C9-DDA9-CEBD-38376F36EF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01264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6" name="Text Placeholder Body 12">
            <a:extLst>
              <a:ext uri="{FF2B5EF4-FFF2-40B4-BE49-F238E27FC236}">
                <a16:creationId xmlns:a16="http://schemas.microsoft.com/office/drawing/2014/main" id="{2AD0E6F5-6EE4-9AD4-5A3A-5E0CCBD95D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01264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6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C2F812E-CC73-A441-8A91-4D97340C8AF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0E1EA1C5-4F42-4B9F-176F-574F81B60F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FACDE84F-7286-AC50-DFD3-1E8D43C30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B33FC74B-CF3D-ABDB-8445-AA036B3E9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0" name="Text Placeholder Subhead 2">
            <a:extLst>
              <a:ext uri="{FF2B5EF4-FFF2-40B4-BE49-F238E27FC236}">
                <a16:creationId xmlns:a16="http://schemas.microsoft.com/office/drawing/2014/main" id="{4D15D9AA-E85E-CE54-8231-BE7F802F8B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5" name="Text Placeholder Body 2">
            <a:extLst>
              <a:ext uri="{FF2B5EF4-FFF2-40B4-BE49-F238E27FC236}">
                <a16:creationId xmlns:a16="http://schemas.microsoft.com/office/drawing/2014/main" id="{C9BDFBF2-77EA-F8A5-9AC1-EAEA56E90E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4825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4" name="Text Placeholder Subhead 3">
            <a:extLst>
              <a:ext uri="{FF2B5EF4-FFF2-40B4-BE49-F238E27FC236}">
                <a16:creationId xmlns:a16="http://schemas.microsoft.com/office/drawing/2014/main" id="{847CBC9A-67EF-7E8B-FCAE-4BA2369122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72450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13" name="Text Placeholder Body 3">
            <a:extLst>
              <a:ext uri="{FF2B5EF4-FFF2-40B4-BE49-F238E27FC236}">
                <a16:creationId xmlns:a16="http://schemas.microsoft.com/office/drawing/2014/main" id="{2E5AD560-532D-C293-3A5B-C1D8DC86D1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2450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859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1411EF45-CE65-4A79-C73D-3FDEB40BFC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64958" y="1793876"/>
            <a:ext cx="5483405" cy="4011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8E67AC-9672-5888-385A-39D58004A78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7D6AE0A4-9859-6988-83CE-F7B4FEFFB8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6F4FDF7F-2EC5-5DFE-9985-43FF747E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D641B31D-E6D1-04A4-BE3F-B71BED6220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6588801F-2D2E-D646-FAFD-A03401D4A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36142" y="1760400"/>
            <a:ext cx="2598737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8FF1A7E0-28DC-B659-73E4-C1482FC07F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3638" y="2098800"/>
            <a:ext cx="2598737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3" name="Text Placeholder Subhead 2">
            <a:extLst>
              <a:ext uri="{FF2B5EF4-FFF2-40B4-BE49-F238E27FC236}">
                <a16:creationId xmlns:a16="http://schemas.microsoft.com/office/drawing/2014/main" id="{8C4008EC-9A51-4B27-EBBB-D765B35583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7650" y="1760400"/>
            <a:ext cx="260141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0" name="Text Placeholder Body 2">
            <a:extLst>
              <a:ext uri="{FF2B5EF4-FFF2-40B4-BE49-F238E27FC236}">
                <a16:creationId xmlns:a16="http://schemas.microsoft.com/office/drawing/2014/main" id="{55A51214-6219-C8DC-2EF2-5CAD19B1D4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7650" y="2098800"/>
            <a:ext cx="260141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838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E625CA7-C6C5-FB64-07EF-62855658208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79AC53BE-639F-9DA4-E0D2-8986D917D0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531D83CD-A88C-CDE0-B5C2-B8D1F325A8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1D45DD7F-11FD-F092-E843-9FF8A20640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8BEF6367-5944-A1C3-4BA8-0598251B7B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4958" y="1793875"/>
            <a:ext cx="5483405" cy="4011614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">
            <a:extLst>
              <a:ext uri="{FF2B5EF4-FFF2-40B4-BE49-F238E27FC236}">
                <a16:creationId xmlns:a16="http://schemas.microsoft.com/office/drawing/2014/main" id="{701ECA38-C64D-7788-5306-4723955DD2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43638" y="1793875"/>
            <a:ext cx="2598737" cy="401161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Body">
            <a:extLst>
              <a:ext uri="{FF2B5EF4-FFF2-40B4-BE49-F238E27FC236}">
                <a16:creationId xmlns:a16="http://schemas.microsoft.com/office/drawing/2014/main" id="{6EC72C16-1B49-9BC9-CD89-3939687D62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6063" y="2098801"/>
            <a:ext cx="2599936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0" name="Text Placeholder Subhead">
            <a:extLst>
              <a:ext uri="{FF2B5EF4-FFF2-40B4-BE49-F238E27FC236}">
                <a16:creationId xmlns:a16="http://schemas.microsoft.com/office/drawing/2014/main" id="{3F7B9809-FD64-C515-EE38-0E2FD35989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6063" y="1760400"/>
            <a:ext cx="259993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</p:spTree>
    <p:extLst>
      <p:ext uri="{BB962C8B-B14F-4D97-AF65-F5344CB8AC3E}">
        <p14:creationId xmlns:p14="http://schemas.microsoft.com/office/powerpoint/2010/main" val="35884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16A4763-C1B7-B3E7-DF98-3E2377D65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243637" y="1793876"/>
            <a:ext cx="5494941" cy="4011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DBA21DD-27F8-0972-D9A1-4DCB5C101DA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27151D13-76D3-5CBB-3271-0D6AD6D137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F8DAE0F-F11A-920A-0CCB-50C65987A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7" name="Text Placeholder Subtitle">
            <a:extLst>
              <a:ext uri="{FF2B5EF4-FFF2-40B4-BE49-F238E27FC236}">
                <a16:creationId xmlns:a16="http://schemas.microsoft.com/office/drawing/2014/main" id="{99D6EBC0-F634-DDFB-97CD-47A7FBB43A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2" name="Text Placeholder Subhead 1">
            <a:extLst>
              <a:ext uri="{FF2B5EF4-FFF2-40B4-BE49-F238E27FC236}">
                <a16:creationId xmlns:a16="http://schemas.microsoft.com/office/drawing/2014/main" id="{EB74AB36-27D6-DA6F-CD6D-38D517D98E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758910"/>
            <a:ext cx="25987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1">
            <a:extLst>
              <a:ext uri="{FF2B5EF4-FFF2-40B4-BE49-F238E27FC236}">
                <a16:creationId xmlns:a16="http://schemas.microsoft.com/office/drawing/2014/main" id="{FCE63746-ECB0-8EBF-0948-1B06FFC85E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2098800"/>
            <a:ext cx="2598739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Subhead 2">
            <a:extLst>
              <a:ext uri="{FF2B5EF4-FFF2-40B4-BE49-F238E27FC236}">
                <a16:creationId xmlns:a16="http://schemas.microsoft.com/office/drawing/2014/main" id="{B8F300AF-81AD-DF5E-3EC5-0925DA200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4" y="1758910"/>
            <a:ext cx="25987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4" name="Text Placeholder Body 2">
            <a:extLst>
              <a:ext uri="{FF2B5EF4-FFF2-40B4-BE49-F238E27FC236}">
                <a16:creationId xmlns:a16="http://schemas.microsoft.com/office/drawing/2014/main" id="{B6629329-E9D9-C6C2-BCE3-A5D1AF030B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4" y="2098800"/>
            <a:ext cx="2598739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076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C6ECBF-090F-46E3-A6E0-CF2EB8B2CBD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4ECDB7A8-FCD8-D792-5B7E-4CA12E6529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156E2288-14B9-8155-1611-B12517DFF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5" name="Text Placeholder Subtitle">
            <a:extLst>
              <a:ext uri="{FF2B5EF4-FFF2-40B4-BE49-F238E27FC236}">
                <a16:creationId xmlns:a16="http://schemas.microsoft.com/office/drawing/2014/main" id="{F40FE8D2-7F9D-09D4-2377-40B66ACAAB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1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CDB6DA2B-981B-3CD9-CF03-FC21AD8FA3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6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67DE26CE-BA55-E07B-378C-F242275355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6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6" name="Text Placeholder Subhead 3">
            <a:extLst>
              <a:ext uri="{FF2B5EF4-FFF2-40B4-BE49-F238E27FC236}">
                <a16:creationId xmlns:a16="http://schemas.microsoft.com/office/drawing/2014/main" id="{D0F72E69-7343-8B67-589B-1EBE25262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3638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5" name="Text Placeholder Body 3">
            <a:extLst>
              <a:ext uri="{FF2B5EF4-FFF2-40B4-BE49-F238E27FC236}">
                <a16:creationId xmlns:a16="http://schemas.microsoft.com/office/drawing/2014/main" id="{EF3770D5-66FD-46CF-166E-D7490D6DFC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3638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8" name="Text Placeholder Subhead 4">
            <a:extLst>
              <a:ext uri="{FF2B5EF4-FFF2-40B4-BE49-F238E27FC236}">
                <a16:creationId xmlns:a16="http://schemas.microsoft.com/office/drawing/2014/main" id="{A66254AB-4B55-024E-D6B5-9D42A1129B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6063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7" name="Text Placeholder Body 4">
            <a:extLst>
              <a:ext uri="{FF2B5EF4-FFF2-40B4-BE49-F238E27FC236}">
                <a16:creationId xmlns:a16="http://schemas.microsoft.com/office/drawing/2014/main" id="{5D7CB70B-2E37-E983-04FD-C3D83E103C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6063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995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6B93E66-927E-A9F2-C69C-5CCA3FFC078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AD4DB068-BB8D-E5B5-3E30-C54901B12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C12ABB6D-D979-FA01-F12B-147E65A8B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685B15F6-92A4-64AE-2C3F-8A348C5CA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2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22" name="Text Placeholder Subhead 1">
            <a:extLst>
              <a:ext uri="{FF2B5EF4-FFF2-40B4-BE49-F238E27FC236}">
                <a16:creationId xmlns:a16="http://schemas.microsoft.com/office/drawing/2014/main" id="{91B41DE3-8779-89FD-C0E6-4646C1B6D7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732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1" name="Text Placeholder Body 1">
            <a:extLst>
              <a:ext uri="{FF2B5EF4-FFF2-40B4-BE49-F238E27FC236}">
                <a16:creationId xmlns:a16="http://schemas.microsoft.com/office/drawing/2014/main" id="{5207B5BD-8D52-FE07-1FFD-F1DCA90757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732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4" name="Text Placeholder Subhead 2">
            <a:extLst>
              <a:ext uri="{FF2B5EF4-FFF2-40B4-BE49-F238E27FC236}">
                <a16:creationId xmlns:a16="http://schemas.microsoft.com/office/drawing/2014/main" id="{9CA7DEF1-473B-928E-23C3-6999D254BB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5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3" name="Text Placeholder Body 2">
            <a:extLst>
              <a:ext uri="{FF2B5EF4-FFF2-40B4-BE49-F238E27FC236}">
                <a16:creationId xmlns:a16="http://schemas.microsoft.com/office/drawing/2014/main" id="{E6E82780-C694-5CFD-9E60-0674FA260E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5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6" name="Text Placeholder Subhead 3">
            <a:extLst>
              <a:ext uri="{FF2B5EF4-FFF2-40B4-BE49-F238E27FC236}">
                <a16:creationId xmlns:a16="http://schemas.microsoft.com/office/drawing/2014/main" id="{B69C559B-D0A0-0C07-2831-5CBC0FB35F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5169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5" name="Text Placeholder Body 3">
            <a:extLst>
              <a:ext uri="{FF2B5EF4-FFF2-40B4-BE49-F238E27FC236}">
                <a16:creationId xmlns:a16="http://schemas.microsoft.com/office/drawing/2014/main" id="{1F313D10-A03B-DB24-FDA9-F7AEAA6A90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169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8" name="Text Placeholder Subhead 4">
            <a:extLst>
              <a:ext uri="{FF2B5EF4-FFF2-40B4-BE49-F238E27FC236}">
                <a16:creationId xmlns:a16="http://schemas.microsoft.com/office/drawing/2014/main" id="{0103AB85-C5FF-262F-D0E7-7AF4B7529C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0713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7" name="Text Placeholder Body 4">
            <a:extLst>
              <a:ext uri="{FF2B5EF4-FFF2-40B4-BE49-F238E27FC236}">
                <a16:creationId xmlns:a16="http://schemas.microsoft.com/office/drawing/2014/main" id="{74B11379-D5D3-19B3-FCDE-E0E4DC3297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0713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14" name="Content Placeholder stat 1">
            <a:extLst>
              <a:ext uri="{FF2B5EF4-FFF2-40B4-BE49-F238E27FC236}">
                <a16:creationId xmlns:a16="http://schemas.microsoft.com/office/drawing/2014/main" id="{48A234D7-3BCF-4DD3-2032-3C158A69909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53422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6" name="Text Placeholder stat 1">
            <a:extLst>
              <a:ext uri="{FF2B5EF4-FFF2-40B4-BE49-F238E27FC236}">
                <a16:creationId xmlns:a16="http://schemas.microsoft.com/office/drawing/2014/main" id="{0A735761-384C-9EAA-A20E-73E4ACB0B8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3422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7" name="Content Placeholder stat 2">
            <a:extLst>
              <a:ext uri="{FF2B5EF4-FFF2-40B4-BE49-F238E27FC236}">
                <a16:creationId xmlns:a16="http://schemas.microsoft.com/office/drawing/2014/main" id="{1A4684EF-2822-D692-0D39-C351F8EC3AF4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349625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8" name="Text Placeholder stat 2">
            <a:extLst>
              <a:ext uri="{FF2B5EF4-FFF2-40B4-BE49-F238E27FC236}">
                <a16:creationId xmlns:a16="http://schemas.microsoft.com/office/drawing/2014/main" id="{DB8BF7F2-2B1C-955B-D446-8DCB99F327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625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9" name="Content Placeholder stat 3">
            <a:extLst>
              <a:ext uri="{FF2B5EF4-FFF2-40B4-BE49-F238E27FC236}">
                <a16:creationId xmlns:a16="http://schemas.microsoft.com/office/drawing/2014/main" id="{9D668F54-C01D-0BB4-3BEF-3E639BD61F0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243638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20" name="Text Placeholder stat 3">
            <a:extLst>
              <a:ext uri="{FF2B5EF4-FFF2-40B4-BE49-F238E27FC236}">
                <a16:creationId xmlns:a16="http://schemas.microsoft.com/office/drawing/2014/main" id="{3BABE8ED-D729-C9B1-8E96-BBEFDFF325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3638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29" name="Content Placeholder stat 4">
            <a:extLst>
              <a:ext uri="{FF2B5EF4-FFF2-40B4-BE49-F238E27FC236}">
                <a16:creationId xmlns:a16="http://schemas.microsoft.com/office/drawing/2014/main" id="{0C382C80-767C-CD18-B847-2FDD4A391DEB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131999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30" name="Text Placeholder stat 4">
            <a:extLst>
              <a:ext uri="{FF2B5EF4-FFF2-40B4-BE49-F238E27FC236}">
                <a16:creationId xmlns:a16="http://schemas.microsoft.com/office/drawing/2014/main" id="{DCEB8B98-DD56-83B9-A5A2-A560DDF167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31999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</p:spTree>
    <p:extLst>
      <p:ext uri="{BB962C8B-B14F-4D97-AF65-F5344CB8AC3E}">
        <p14:creationId xmlns:p14="http://schemas.microsoft.com/office/powerpoint/2010/main" val="130354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D5D48B7-1F02-9E62-55B4-8AA41B511DC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3EED6FE6-DBE9-7775-0CA1-ACC7141556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DEF7001-23B7-3A12-BA72-A5F97663AB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3" name="Text Placeholder Subtitle">
            <a:extLst>
              <a:ext uri="{FF2B5EF4-FFF2-40B4-BE49-F238E27FC236}">
                <a16:creationId xmlns:a16="http://schemas.microsoft.com/office/drawing/2014/main" id="{C0D036E8-9207-1523-A5E0-1A54AD15D5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7304A729-DA45-32FD-0BCB-085D901DCF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706" y="1901037"/>
            <a:ext cx="2818800" cy="2797926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Subhead 1">
            <a:extLst>
              <a:ext uri="{FF2B5EF4-FFF2-40B4-BE49-F238E27FC236}">
                <a16:creationId xmlns:a16="http://schemas.microsoft.com/office/drawing/2014/main" id="{91B41DE3-8779-89FD-C0E6-4646C1B6D7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907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1" name="Text Placeholder Body 1">
            <a:extLst>
              <a:ext uri="{FF2B5EF4-FFF2-40B4-BE49-F238E27FC236}">
                <a16:creationId xmlns:a16="http://schemas.microsoft.com/office/drawing/2014/main" id="{5207B5BD-8D52-FE07-1FFD-F1DCA90757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1907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10EDF5E-4793-8C7E-1BA7-33BA3A9C4A0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3301" y="1901037"/>
            <a:ext cx="2822699" cy="279792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Subhead 2">
            <a:extLst>
              <a:ext uri="{FF2B5EF4-FFF2-40B4-BE49-F238E27FC236}">
                <a16:creationId xmlns:a16="http://schemas.microsoft.com/office/drawing/2014/main" id="{C42DB22F-D1B6-C34C-CBE0-F51D576B93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771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0" name="Text Placeholder Body 2">
            <a:extLst>
              <a:ext uri="{FF2B5EF4-FFF2-40B4-BE49-F238E27FC236}">
                <a16:creationId xmlns:a16="http://schemas.microsoft.com/office/drawing/2014/main" id="{76E5641A-EE68-9931-57CF-0569317651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18771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9546FD9-8119-295E-1730-C618331ACD8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096000" y="1901037"/>
            <a:ext cx="2818800" cy="2797926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Subhead 3">
            <a:extLst>
              <a:ext uri="{FF2B5EF4-FFF2-40B4-BE49-F238E27FC236}">
                <a16:creationId xmlns:a16="http://schemas.microsoft.com/office/drawing/2014/main" id="{9E66EB15-C703-750D-0491-6BBCEF1D53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9529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0" name="Text Placeholder Body 3">
            <a:extLst>
              <a:ext uri="{FF2B5EF4-FFF2-40B4-BE49-F238E27FC236}">
                <a16:creationId xmlns:a16="http://schemas.microsoft.com/office/drawing/2014/main" id="{EAA8CECE-12CF-293D-D71A-090EBC9604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9529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477A24E4-F7D9-9815-E293-20C9C857935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11595" y="1901037"/>
            <a:ext cx="2822400" cy="279792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Text Placeholder Body 4">
            <a:extLst>
              <a:ext uri="{FF2B5EF4-FFF2-40B4-BE49-F238E27FC236}">
                <a16:creationId xmlns:a16="http://schemas.microsoft.com/office/drawing/2014/main" id="{55EC4EE5-B9E2-6A68-8DD3-223573D9AE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7930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33" name="Text Placeholder Subhead 4">
            <a:extLst>
              <a:ext uri="{FF2B5EF4-FFF2-40B4-BE49-F238E27FC236}">
                <a16:creationId xmlns:a16="http://schemas.microsoft.com/office/drawing/2014/main" id="{69A52991-E9E0-9089-0102-BAFABF5CA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7930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</p:spTree>
    <p:extLst>
      <p:ext uri="{BB962C8B-B14F-4D97-AF65-F5344CB8AC3E}">
        <p14:creationId xmlns:p14="http://schemas.microsoft.com/office/powerpoint/2010/main" val="185697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523B1A05-E185-7E4E-BF44-20D6031B8D25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0ADAD9BC-9FDD-C6EB-3B7A-7AC31F655C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717650D2-20A9-3620-333B-46E27BD33A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21" name="Text Placeholder Subtitle">
            <a:extLst>
              <a:ext uri="{FF2B5EF4-FFF2-40B4-BE49-F238E27FC236}">
                <a16:creationId xmlns:a16="http://schemas.microsoft.com/office/drawing/2014/main" id="{AFD3D560-3B40-C27A-03FE-DFB6D4DAC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2" name="Text Placeholder Subhead 1">
            <a:extLst>
              <a:ext uri="{FF2B5EF4-FFF2-40B4-BE49-F238E27FC236}">
                <a16:creationId xmlns:a16="http://schemas.microsoft.com/office/drawing/2014/main" id="{EB74AB36-27D6-DA6F-CD6D-38D517D98E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1">
            <a:extLst>
              <a:ext uri="{FF2B5EF4-FFF2-40B4-BE49-F238E27FC236}">
                <a16:creationId xmlns:a16="http://schemas.microsoft.com/office/drawing/2014/main" id="{FCE63746-ECB0-8EBF-0948-1B06FFC85E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1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Subhead 2">
            <a:extLst>
              <a:ext uri="{FF2B5EF4-FFF2-40B4-BE49-F238E27FC236}">
                <a16:creationId xmlns:a16="http://schemas.microsoft.com/office/drawing/2014/main" id="{B8F300AF-81AD-DF5E-3EC5-0925DA200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5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4" name="Text Placeholder Body 2">
            <a:extLst>
              <a:ext uri="{FF2B5EF4-FFF2-40B4-BE49-F238E27FC236}">
                <a16:creationId xmlns:a16="http://schemas.microsoft.com/office/drawing/2014/main" id="{B6629329-E9D9-C6C2-BCE3-A5D1AF030B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5" y="2098801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" name="Content Placeholder stat 1">
            <a:extLst>
              <a:ext uri="{FF2B5EF4-FFF2-40B4-BE49-F238E27FC236}">
                <a16:creationId xmlns:a16="http://schemas.microsoft.com/office/drawing/2014/main" id="{44FB7B3A-02DB-1B9E-3238-F2FEAC0A584F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43638" y="1793875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4" name="Text Placeholder stat 1">
            <a:extLst>
              <a:ext uri="{FF2B5EF4-FFF2-40B4-BE49-F238E27FC236}">
                <a16:creationId xmlns:a16="http://schemas.microsoft.com/office/drawing/2014/main" id="{F4863D4C-44E2-8CD3-6BAC-5D15567475E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3638" y="2736580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5" name="Content Placeholder stat 2">
            <a:extLst>
              <a:ext uri="{FF2B5EF4-FFF2-40B4-BE49-F238E27FC236}">
                <a16:creationId xmlns:a16="http://schemas.microsoft.com/office/drawing/2014/main" id="{4A04D824-BD1F-FF06-AC4E-6D81909577C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243638" y="3713243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7" name="Text Placeholder stat 2">
            <a:extLst>
              <a:ext uri="{FF2B5EF4-FFF2-40B4-BE49-F238E27FC236}">
                <a16:creationId xmlns:a16="http://schemas.microsoft.com/office/drawing/2014/main" id="{7B77D186-3E37-A99F-B583-D2BF63D125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3638" y="4655948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9" name="Content Placeholder stat 3">
            <a:extLst>
              <a:ext uri="{FF2B5EF4-FFF2-40B4-BE49-F238E27FC236}">
                <a16:creationId xmlns:a16="http://schemas.microsoft.com/office/drawing/2014/main" id="{A5ABD5A8-F739-E7BA-9965-904E207A66F7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36063" y="1793875"/>
            <a:ext cx="2602516" cy="1713600"/>
          </a:xfrm>
          <a:solidFill>
            <a:schemeClr val="tx1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6" name="Text Placeholder stat 3">
            <a:extLst>
              <a:ext uri="{FF2B5EF4-FFF2-40B4-BE49-F238E27FC236}">
                <a16:creationId xmlns:a16="http://schemas.microsoft.com/office/drawing/2014/main" id="{6A61DB59-854D-F220-1CD5-58F130138C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36063" y="2736580"/>
            <a:ext cx="2602800" cy="770895"/>
          </a:xfrm>
          <a:solidFill>
            <a:schemeClr val="tx1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7" name="Content Placeholder stat 4">
            <a:extLst>
              <a:ext uri="{FF2B5EF4-FFF2-40B4-BE49-F238E27FC236}">
                <a16:creationId xmlns:a16="http://schemas.microsoft.com/office/drawing/2014/main" id="{9E7D5289-E1C1-849B-6DA1-4197C9D9FBFE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9136063" y="3713243"/>
            <a:ext cx="2602516" cy="1713600"/>
          </a:xfrm>
          <a:solidFill>
            <a:schemeClr val="tx1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22" name="Text Placeholder stat 4">
            <a:extLst>
              <a:ext uri="{FF2B5EF4-FFF2-40B4-BE49-F238E27FC236}">
                <a16:creationId xmlns:a16="http://schemas.microsoft.com/office/drawing/2014/main" id="{16A71F7B-0ED2-D885-C997-34CBCE634A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36063" y="4655948"/>
            <a:ext cx="2602800" cy="770895"/>
          </a:xfrm>
          <a:solidFill>
            <a:schemeClr val="tx1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</p:spTree>
    <p:extLst>
      <p:ext uri="{BB962C8B-B14F-4D97-AF65-F5344CB8AC3E}">
        <p14:creationId xmlns:p14="http://schemas.microsoft.com/office/powerpoint/2010/main" val="291101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C94AAB-B813-5EAE-45E8-80378206FD2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Subtitle">
            <a:extLst>
              <a:ext uri="{FF2B5EF4-FFF2-40B4-BE49-F238E27FC236}">
                <a16:creationId xmlns:a16="http://schemas.microsoft.com/office/drawing/2014/main" id="{DD1D2675-0CE6-0E40-73C1-DAC4940DA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1D5596-F08D-F3D8-B71E-0CE2BB2F9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2ABE90F4-11F1-1636-D404-59A80F1B4A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549116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549116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20D1A2A5-324F-3C0F-4DC6-50E19D6790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3636" y="1760400"/>
            <a:ext cx="549116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FE8138BA-4CAC-603D-2725-958C282E9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3636" y="2098800"/>
            <a:ext cx="549116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444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4BABEC69-BD88-9E78-9D6D-BF78E31033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53422" y="1793875"/>
            <a:ext cx="5494941" cy="401161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CDD8C3C-1742-F314-BA6E-8D646EA17C2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Subtitle">
            <a:extLst>
              <a:ext uri="{FF2B5EF4-FFF2-40B4-BE49-F238E27FC236}">
                <a16:creationId xmlns:a16="http://schemas.microsoft.com/office/drawing/2014/main" id="{27EA9878-6945-3DC9-8E9A-78FC57BC25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9132B086-5201-ACA1-33FA-465492799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11137FE5-CA3A-2FAD-4EF7-0B934E1801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ext Placeholder Body">
            <a:extLst>
              <a:ext uri="{FF2B5EF4-FFF2-40B4-BE49-F238E27FC236}">
                <a16:creationId xmlns:a16="http://schemas.microsoft.com/office/drawing/2014/main" id="{FE8138BA-4CAC-603D-2725-958C282E9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9858" y="2098800"/>
            <a:ext cx="5494941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">
            <a:extLst>
              <a:ext uri="{FF2B5EF4-FFF2-40B4-BE49-F238E27FC236}">
                <a16:creationId xmlns:a16="http://schemas.microsoft.com/office/drawing/2014/main" id="{20D1A2A5-324F-3C0F-4DC6-50E19D6790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9858" y="1760400"/>
            <a:ext cx="5494941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</p:spTree>
    <p:extLst>
      <p:ext uri="{BB962C8B-B14F-4D97-AF65-F5344CB8AC3E}">
        <p14:creationId xmlns:p14="http://schemas.microsoft.com/office/powerpoint/2010/main" val="351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Sidebar">
            <a:extLst>
              <a:ext uri="{FF2B5EF4-FFF2-40B4-BE49-F238E27FC236}">
                <a16:creationId xmlns:a16="http://schemas.microsoft.com/office/drawing/2014/main" id="{EE8BDBEE-6B79-B189-8B87-991067326D91}"/>
              </a:ext>
            </a:extLst>
          </p:cNvPr>
          <p:cNvSpPr/>
          <p:nvPr userDrawn="1"/>
        </p:nvSpPr>
        <p:spPr>
          <a:xfrm>
            <a:off x="1" y="0"/>
            <a:ext cx="334962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  <a:latin typeface="HP Forma DJR Office" pitchFamily="2" charset="77"/>
            </a:endParaRPr>
          </a:p>
        </p:txBody>
      </p:sp>
      <p:pic>
        <p:nvPicPr>
          <p:cNvPr id="7" name="HP Logo">
            <a:extLst>
              <a:ext uri="{FF2B5EF4-FFF2-40B4-BE49-F238E27FC236}">
                <a16:creationId xmlns:a16="http://schemas.microsoft.com/office/drawing/2014/main" id="{CF05E177-BF5F-C6CF-9585-DD12CA8BD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704B385-CDBD-A242-7534-0423ABC3749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Section Title">
            <a:extLst>
              <a:ext uri="{FF2B5EF4-FFF2-40B4-BE49-F238E27FC236}">
                <a16:creationId xmlns:a16="http://schemas.microsoft.com/office/drawing/2014/main" id="{74AFB95F-F51A-55DC-A64C-464864C2C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8377D99F-12B5-576D-FDEC-120C047DE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6981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9CC67956-58D0-145B-940B-D0896ED02A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98553"/>
            <a:ext cx="2602346" cy="539847"/>
          </a:xfrm>
        </p:spPr>
        <p:txBody>
          <a:bodyPr r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4" name="Text Placeholder Body">
            <a:extLst>
              <a:ext uri="{FF2B5EF4-FFF2-40B4-BE49-F238E27FC236}">
                <a16:creationId xmlns:a16="http://schemas.microsoft.com/office/drawing/2014/main" id="{97EB5387-6F22-A937-1705-11980C912F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691502"/>
            <a:ext cx="2598738" cy="3113986"/>
          </a:xfrm>
        </p:spPr>
        <p:txBody>
          <a:bodyPr vert="horz" lIns="0" tIns="0" rIns="0" bIns="0" rtlCol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72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 w/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Sidebar">
            <a:extLst>
              <a:ext uri="{FF2B5EF4-FFF2-40B4-BE49-F238E27FC236}">
                <a16:creationId xmlns:a16="http://schemas.microsoft.com/office/drawing/2014/main" id="{EE8BDBEE-6B79-B189-8B87-991067326D91}"/>
              </a:ext>
            </a:extLst>
          </p:cNvPr>
          <p:cNvSpPr/>
          <p:nvPr userDrawn="1"/>
        </p:nvSpPr>
        <p:spPr>
          <a:xfrm>
            <a:off x="1" y="0"/>
            <a:ext cx="334962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  <a:latin typeface="HP Forma DJR Office" pitchFamily="2" charset="77"/>
            </a:endParaRPr>
          </a:p>
        </p:txBody>
      </p:sp>
      <p:pic>
        <p:nvPicPr>
          <p:cNvPr id="4" name="HP Logo">
            <a:extLst>
              <a:ext uri="{FF2B5EF4-FFF2-40B4-BE49-F238E27FC236}">
                <a16:creationId xmlns:a16="http://schemas.microsoft.com/office/drawing/2014/main" id="{631E4F6C-A110-BF5F-0DDF-9EC140F72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D571C28-6AF7-5467-F091-A91A27C8822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Section Title">
            <a:extLst>
              <a:ext uri="{FF2B5EF4-FFF2-40B4-BE49-F238E27FC236}">
                <a16:creationId xmlns:a16="http://schemas.microsoft.com/office/drawing/2014/main" id="{74AFB95F-F51A-55DC-A64C-464864C2C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8377D99F-12B5-576D-FDEC-120C047DE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6981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Body">
            <a:extLst>
              <a:ext uri="{FF2B5EF4-FFF2-40B4-BE49-F238E27FC236}">
                <a16:creationId xmlns:a16="http://schemas.microsoft.com/office/drawing/2014/main" id="{B9064B06-8468-3C30-B011-C457F60E7A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902127"/>
            <a:ext cx="2598738" cy="3906935"/>
          </a:xfrm>
        </p:spPr>
        <p:txBody>
          <a:bodyPr rIns="0"/>
          <a:lstStyle>
            <a:lvl1pPr>
              <a:defRPr/>
            </a:lvl1pPr>
            <a:lvl9pPr>
              <a:spcAft>
                <a:spcPts val="900"/>
              </a:spcAft>
              <a:defRPr/>
            </a:lvl9pPr>
          </a:lstStyle>
          <a:p>
            <a:pPr lvl="7"/>
            <a:r>
              <a:rPr lang="en-US"/>
              <a:t>Click to write a subtitle that is 1-2 lines long.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3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3349624" y="0"/>
            <a:ext cx="8842375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A458E7E2-EDE2-2902-1F01-9470A7DDC85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E5278CEF-2F36-E298-F1A2-5B9B5DC12C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A0E2CE9-7665-AC31-59F6-43FD17D96A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3380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6AC7DE64-0E68-150C-3CBC-198742585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2593380" cy="539847"/>
          </a:xfrm>
        </p:spPr>
        <p:txBody>
          <a:bodyPr r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7" name="Text Placeholder Body">
            <a:extLst>
              <a:ext uri="{FF2B5EF4-FFF2-40B4-BE49-F238E27FC236}">
                <a16:creationId xmlns:a16="http://schemas.microsoft.com/office/drawing/2014/main" id="{8261E5E1-0562-BBA1-2814-1A2ACA0BA2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2691502"/>
            <a:ext cx="2598738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08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A323EE8-B917-2EF7-8429-246380550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30CEE4-86AA-87B6-4567-799504B3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8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DFB5B2A-A74E-B71B-2444-843FC60D0D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75188F2D-77F8-2852-93EB-92CC83AE8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9734" cy="619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</a:t>
            </a:r>
          </a:p>
          <a:p>
            <a:pPr lvl="1">
              <a:spcBef>
                <a:spcPts val="400"/>
              </a:spcBef>
            </a:pPr>
            <a:r>
              <a:rPr lang="en-US"/>
              <a:t>Click to write a slide subtitle</a:t>
            </a:r>
          </a:p>
          <a:p>
            <a:pPr lvl="2">
              <a:spcBef>
                <a:spcPts val="2500"/>
              </a:spcBef>
            </a:pPr>
            <a:r>
              <a:rPr lang="en-US"/>
              <a:t> 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0BF6A0E-BF54-1288-2709-3A4BD155C9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233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4B41563-8CC5-3AEE-8251-6A400D66327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F39E5016-CC21-E5AE-DD36-FC1CA650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1127880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EF60FBB4-7F9D-F261-D432-3B86E1FB6C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154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C0423C0D-A6A6-C589-F244-1E4FF55503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Subtitle">
            <a:extLst>
              <a:ext uri="{FF2B5EF4-FFF2-40B4-BE49-F238E27FC236}">
                <a16:creationId xmlns:a16="http://schemas.microsoft.com/office/drawing/2014/main" id="{AB164EB7-64B7-6185-24C3-8199AED2D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20240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AC38AE-33C4-2144-8AE8-E321E9BA5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5" name="Content Placeholder Body">
            <a:extLst>
              <a:ext uri="{FF2B5EF4-FFF2-40B4-BE49-F238E27FC236}">
                <a16:creationId xmlns:a16="http://schemas.microsoft.com/office/drawing/2014/main" id="{1A468808-A228-D1B9-9720-ACB9EBF875C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638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300D5C1-262C-ECC2-F9F8-A7954DAF991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290367F8-02F4-812E-DAD7-4E79EB35F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95CACC08-070B-14E0-824B-56FDE13550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20240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">
            <a:extLst>
              <a:ext uri="{FF2B5EF4-FFF2-40B4-BE49-F238E27FC236}">
                <a16:creationId xmlns:a16="http://schemas.microsoft.com/office/drawing/2014/main" id="{74BBF8D5-D0AE-13E9-5DEC-29503C9F67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 rIns="147600"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2" name="Text Placeholder Body">
            <a:extLst>
              <a:ext uri="{FF2B5EF4-FFF2-40B4-BE49-F238E27FC236}">
                <a16:creationId xmlns:a16="http://schemas.microsoft.com/office/drawing/2014/main" id="{8596D0EC-D6DF-3830-B23E-3670D2ECC7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1"/>
            <a:ext cx="3562350" cy="3706688"/>
          </a:xfrm>
        </p:spPr>
        <p:txBody>
          <a:bodyPr vert="horz" lIns="0" tIns="0" rIns="14760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603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7E598298-639B-4FEE-0CAF-F7A89986F8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243638" y="0"/>
            <a:ext cx="5948362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74D752E-429B-B97E-A7E5-774A2009B2F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5491163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5489611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793875"/>
            <a:ext cx="5491163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810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7E598298-639B-4FEE-0CAF-F7A89986F8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5948363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HP Logo">
            <a:extLst>
              <a:ext uri="{FF2B5EF4-FFF2-40B4-BE49-F238E27FC236}">
                <a16:creationId xmlns:a16="http://schemas.microsoft.com/office/drawing/2014/main" id="{25A8FCF9-EF56-6675-7649-1F562C93D6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E428469-8A09-9F6C-3D63-DF4CBCA9450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639" y="475065"/>
            <a:ext cx="5491161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5191" y="849600"/>
            <a:ext cx="5489609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3639" y="1793875"/>
            <a:ext cx="5491161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243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Right (stri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C2011428-717D-5B01-3434-9193F4EF59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66731" y="457201"/>
            <a:ext cx="7025269" cy="6400801"/>
          </a:xfrm>
          <a:custGeom>
            <a:avLst/>
            <a:gdLst>
              <a:gd name="connsiteX0" fmla="*/ 2330563 w 7025269"/>
              <a:gd name="connsiteY0" fmla="*/ 0 h 6400801"/>
              <a:gd name="connsiteX1" fmla="*/ 7025269 w 7025269"/>
              <a:gd name="connsiteY1" fmla="*/ 0 h 6400801"/>
              <a:gd name="connsiteX2" fmla="*/ 7025269 w 7025269"/>
              <a:gd name="connsiteY2" fmla="*/ 6400801 h 6400801"/>
              <a:gd name="connsiteX3" fmla="*/ 0 w 7025269"/>
              <a:gd name="connsiteY3" fmla="*/ 6400801 h 6400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5269" h="6400801">
                <a:moveTo>
                  <a:pt x="2330563" y="0"/>
                </a:moveTo>
                <a:lnTo>
                  <a:pt x="7025269" y="0"/>
                </a:lnTo>
                <a:lnTo>
                  <a:pt x="7025269" y="6400801"/>
                </a:lnTo>
                <a:lnTo>
                  <a:pt x="0" y="640080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50BF4C0-A834-EA5E-20D6-DC5B8E938D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5491163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5489611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793875"/>
            <a:ext cx="5491163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097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Left (stri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95A41C5A-00D3-CEF6-EACA-68C9EF2636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6622224" cy="6400800"/>
          </a:xfrm>
          <a:custGeom>
            <a:avLst/>
            <a:gdLst>
              <a:gd name="connsiteX0" fmla="*/ 0 w 6622224"/>
              <a:gd name="connsiteY0" fmla="*/ 0 h 6400800"/>
              <a:gd name="connsiteX1" fmla="*/ 6622224 w 6622224"/>
              <a:gd name="connsiteY1" fmla="*/ 0 h 6400800"/>
              <a:gd name="connsiteX2" fmla="*/ 4291662 w 6622224"/>
              <a:gd name="connsiteY2" fmla="*/ 6400800 h 6400800"/>
              <a:gd name="connsiteX3" fmla="*/ 0 w 6622224"/>
              <a:gd name="connsiteY3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22224" h="6400800">
                <a:moveTo>
                  <a:pt x="0" y="0"/>
                </a:moveTo>
                <a:lnTo>
                  <a:pt x="6622224" y="0"/>
                </a:lnTo>
                <a:lnTo>
                  <a:pt x="4291662" y="6400800"/>
                </a:lnTo>
                <a:lnTo>
                  <a:pt x="0" y="64008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AD024B-E6BF-086C-BB1C-FCCEB7B6EA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0" y="475065"/>
            <a:ext cx="4527550" cy="700128"/>
          </a:xfrm>
        </p:spPr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8530" y="849600"/>
            <a:ext cx="452627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7250" y="1793875"/>
            <a:ext cx="4527550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187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53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36.xml"/><Relationship Id="rId42" Type="http://schemas.openxmlformats.org/officeDocument/2006/relationships/slideLayout" Target="../slideLayouts/slideLayout44.xml"/><Relationship Id="rId47" Type="http://schemas.openxmlformats.org/officeDocument/2006/relationships/slideLayout" Target="../slideLayouts/slideLayout49.xml"/><Relationship Id="rId50" Type="http://schemas.openxmlformats.org/officeDocument/2006/relationships/image" Target="../media/image3.svg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2.xml"/><Relationship Id="rId45" Type="http://schemas.openxmlformats.org/officeDocument/2006/relationships/slideLayout" Target="../slideLayouts/slideLayout47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30.xml"/><Relationship Id="rId36" Type="http://schemas.openxmlformats.org/officeDocument/2006/relationships/slideLayout" Target="../slideLayouts/slideLayout38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46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7.xml"/><Relationship Id="rId43" Type="http://schemas.openxmlformats.org/officeDocument/2006/relationships/slideLayout" Target="../slideLayouts/slideLayout45.xml"/><Relationship Id="rId48" Type="http://schemas.openxmlformats.org/officeDocument/2006/relationships/slideLayout" Target="../slideLayouts/slideLayout50.xml"/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40.xml"/><Relationship Id="rId4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22.xml"/><Relationship Id="rId41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92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BC801F5-E287-137B-3E5D-D9E97CB4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11277600" cy="35387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write a slide title that fits in a single line.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7767DAE0-12FB-151E-8B9E-9DD322B6C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9131"/>
            <a:ext cx="11277600" cy="40463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C7DA2CC4-CEFF-7430-04C6-69F1DECD6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5494" y="6316162"/>
            <a:ext cx="299305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E0889E4-075E-5D31-DFF8-C9EC4E7F1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07250" y="6316162"/>
            <a:ext cx="4227513" cy="10772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HP Logo">
            <a:extLst>
              <a:ext uri="{FF2B5EF4-FFF2-40B4-BE49-F238E27FC236}">
                <a16:creationId xmlns:a16="http://schemas.microsoft.com/office/drawing/2014/main" id="{EECDE276-7637-D68C-7EA7-203FF19D2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201" name="Divider slash" hidden="1">
            <a:extLst>
              <a:ext uri="{FF2B5EF4-FFF2-40B4-BE49-F238E27FC236}">
                <a16:creationId xmlns:a16="http://schemas.microsoft.com/office/drawing/2014/main" id="{19F03229-0F95-7E06-1CCA-3D3EBC7F16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1946" y="6187091"/>
            <a:ext cx="52801" cy="127912"/>
          </a:xfrm>
          <a:custGeom>
            <a:avLst/>
            <a:gdLst>
              <a:gd name="connsiteX0" fmla="*/ 145000 w 145000"/>
              <a:gd name="connsiteY0" fmla="*/ 195 h 351269"/>
              <a:gd name="connsiteX1" fmla="*/ 127380 w 145000"/>
              <a:gd name="connsiteY1" fmla="*/ 0 h 351269"/>
              <a:gd name="connsiteX2" fmla="*/ 0 w 145000"/>
              <a:gd name="connsiteY2" fmla="*/ 351067 h 351269"/>
              <a:gd name="connsiteX3" fmla="*/ 17628 w 145000"/>
              <a:gd name="connsiteY3" fmla="*/ 351270 h 351269"/>
              <a:gd name="connsiteX4" fmla="*/ 145000 w 145000"/>
              <a:gd name="connsiteY4" fmla="*/ 195 h 35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00" h="351269">
                <a:moveTo>
                  <a:pt x="145000" y="195"/>
                </a:moveTo>
                <a:lnTo>
                  <a:pt x="127380" y="0"/>
                </a:lnTo>
                <a:lnTo>
                  <a:pt x="0" y="351067"/>
                </a:lnTo>
                <a:lnTo>
                  <a:pt x="17628" y="351270"/>
                </a:lnTo>
                <a:lnTo>
                  <a:pt x="145000" y="195"/>
                </a:lnTo>
                <a:close/>
              </a:path>
            </a:pathLst>
          </a:custGeom>
          <a:solidFill>
            <a:schemeClr val="tx1"/>
          </a:solidFill>
          <a:ln w="7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artner logo frame" hidden="1">
            <a:extLst>
              <a:ext uri="{FF2B5EF4-FFF2-40B4-BE49-F238E27FC236}">
                <a16:creationId xmlns:a16="http://schemas.microsoft.com/office/drawing/2014/main" id="{0D46DC68-E308-7EBB-BC42-D1F0BEE1788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69246" y="6102350"/>
            <a:ext cx="896400" cy="297032"/>
          </a:xfrm>
          <a:custGeom>
            <a:avLst/>
            <a:gdLst>
              <a:gd name="connsiteX0" fmla="*/ 730523 w 820341"/>
              <a:gd name="connsiteY0" fmla="*/ 0 h 820341"/>
              <a:gd name="connsiteX1" fmla="*/ 820342 w 820341"/>
              <a:gd name="connsiteY1" fmla="*/ 0 h 820341"/>
              <a:gd name="connsiteX2" fmla="*/ 820342 w 820341"/>
              <a:gd name="connsiteY2" fmla="*/ 820342 h 820341"/>
              <a:gd name="connsiteX3" fmla="*/ 730523 w 820341"/>
              <a:gd name="connsiteY3" fmla="*/ 820342 h 820341"/>
              <a:gd name="connsiteX4" fmla="*/ 89819 w 820341"/>
              <a:gd name="connsiteY4" fmla="*/ 820342 h 820341"/>
              <a:gd name="connsiteX5" fmla="*/ 0 w 820341"/>
              <a:gd name="connsiteY5" fmla="*/ 820342 h 820341"/>
              <a:gd name="connsiteX6" fmla="*/ 0 w 820341"/>
              <a:gd name="connsiteY6" fmla="*/ 0 h 820341"/>
              <a:gd name="connsiteX7" fmla="*/ 89819 w 820341"/>
              <a:gd name="connsiteY7" fmla="*/ 0 h 820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0341" h="820341">
                <a:moveTo>
                  <a:pt x="730523" y="0"/>
                </a:moveTo>
                <a:cubicBezTo>
                  <a:pt x="780128" y="0"/>
                  <a:pt x="820342" y="0"/>
                  <a:pt x="820342" y="0"/>
                </a:cubicBezTo>
                <a:lnTo>
                  <a:pt x="820342" y="820342"/>
                </a:lnTo>
                <a:cubicBezTo>
                  <a:pt x="820342" y="820342"/>
                  <a:pt x="780129" y="820342"/>
                  <a:pt x="730523" y="820342"/>
                </a:cubicBezTo>
                <a:lnTo>
                  <a:pt x="89819" y="820342"/>
                </a:lnTo>
                <a:cubicBezTo>
                  <a:pt x="40213" y="820342"/>
                  <a:pt x="0" y="820342"/>
                  <a:pt x="0" y="820342"/>
                </a:cubicBezTo>
                <a:lnTo>
                  <a:pt x="0" y="0"/>
                </a:lnTo>
                <a:cubicBezTo>
                  <a:pt x="0" y="0"/>
                  <a:pt x="40213" y="0"/>
                  <a:pt x="89819" y="0"/>
                </a:cubicBezTo>
                <a:close/>
              </a:path>
            </a:pathLst>
          </a:custGeom>
          <a:solidFill>
            <a:srgbClr val="D9D9D9">
              <a:alpha val="50000"/>
            </a:srgbClr>
          </a:solidFill>
          <a:ln w="7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Name next to HP Logo" hidden="1">
            <a:extLst>
              <a:ext uri="{FF2B5EF4-FFF2-40B4-BE49-F238E27FC236}">
                <a16:creationId xmlns:a16="http://schemas.microsoft.com/office/drawing/2014/main" id="{393CD746-232B-F8BD-8CF6-B9896FC65E8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3081" y="6205420"/>
            <a:ext cx="1289700" cy="115826"/>
          </a:xfrm>
          <a:prstGeom prst="rect">
            <a:avLst/>
          </a:prstGeom>
          <a:noFill/>
        </p:spPr>
        <p:txBody>
          <a:bodyPr wrap="square" lIns="0" tIns="7200" rIns="0" bIns="0" rtlCol="0" anchor="ctr">
            <a:spAutoFit/>
          </a:bodyPr>
          <a:lstStyle/>
          <a:p>
            <a:pPr algn="l">
              <a:lnSpc>
                <a:spcPct val="75000"/>
              </a:lnSpc>
              <a:spcBef>
                <a:spcPts val="0"/>
              </a:spcBef>
            </a:pPr>
            <a:r>
              <a:rPr lang="en-US" sz="920" noProof="1">
                <a:solidFill>
                  <a:schemeClr val="tx1"/>
                </a:solidFill>
                <a:latin typeface="HP Forma DJR Office Medium" pitchFamily="2" charset="77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16653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75000"/>
        </a:lnSpc>
        <a:spcBef>
          <a:spcPts val="1000"/>
        </a:spcBef>
        <a:buNone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400" rtl="0" eaLnBrk="1" latinLnBrk="0" hangingPunct="1">
        <a:lnSpc>
          <a:spcPct val="90000"/>
        </a:lnSpc>
        <a:spcBef>
          <a:spcPts val="600"/>
        </a:spcBef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rtl="0" eaLnBrk="1" latinLnBrk="0" hangingPunct="1">
        <a:lnSpc>
          <a:spcPct val="100000"/>
        </a:lnSpc>
        <a:spcBef>
          <a:spcPts val="2500"/>
        </a:spcBef>
        <a:buNone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algn="l" defTabSz="914400" rtl="0" eaLnBrk="1" latinLnBrk="0" hangingPunct="1">
        <a:lnSpc>
          <a:spcPct val="100000"/>
        </a:lnSpc>
        <a:spcBef>
          <a:spcPts val="2500"/>
        </a:spcBef>
        <a:buNone/>
        <a:defRPr sz="1100" b="0" i="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34000" indent="-234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rabicPeriod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468000" indent="-234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lphaLcPeriod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500"/>
        </a:spcBef>
        <a:buFont typeface="+mj-lt"/>
        <a:buNone/>
        <a:defRPr sz="1600" b="0" i="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1500"/>
        </a:spcBef>
        <a:spcAft>
          <a:spcPts val="9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1000"/>
        </a:spcBef>
        <a:buFont typeface="+mj-lt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2541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2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2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58775" indent="-179388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lphaLcPeriod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+mj-lt"/>
        <a:buNone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Font typeface="+mj-lt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orient="horz" pos="1130">
          <p15:clr>
            <a:srgbClr val="FBAE40"/>
          </p15:clr>
        </p15:guide>
        <p15:guide id="3" orient="horz" pos="3657">
          <p15:clr>
            <a:srgbClr val="FBAE40"/>
          </p15:clr>
        </p15:guide>
        <p15:guide id="4" orient="horz" pos="4032">
          <p15:clr>
            <a:srgbClr val="F26B43"/>
          </p15:clr>
        </p15:guide>
        <p15:guide id="11" pos="288">
          <p15:clr>
            <a:srgbClr val="F26B43"/>
          </p15:clr>
        </p15:guide>
        <p15:guide id="12" pos="3840">
          <p15:clr>
            <a:srgbClr val="A4A3A4"/>
          </p15:clr>
        </p15:guide>
        <p15:guide id="13" pos="7392">
          <p15:clr>
            <a:srgbClr val="F26B43"/>
          </p15:clr>
        </p15:guide>
        <p15:guide id="201" pos="710">
          <p15:clr>
            <a:srgbClr val="BBCDD4"/>
          </p15:clr>
        </p15:guide>
        <p15:guide id="202" pos="895">
          <p15:clr>
            <a:srgbClr val="BBCDD4"/>
          </p15:clr>
        </p15:guide>
        <p15:guide id="203" pos="1317">
          <p15:clr>
            <a:srgbClr val="BBCDD4"/>
          </p15:clr>
        </p15:guide>
        <p15:guide id="204" pos="1503">
          <p15:clr>
            <a:srgbClr val="BBCDD4"/>
          </p15:clr>
        </p15:guide>
        <p15:guide id="205" pos="1925">
          <p15:clr>
            <a:srgbClr val="BBCDD4"/>
          </p15:clr>
        </p15:guide>
        <p15:guide id="206" pos="2110">
          <p15:clr>
            <a:srgbClr val="BBCDD4"/>
          </p15:clr>
        </p15:guide>
        <p15:guide id="207" pos="2532">
          <p15:clr>
            <a:srgbClr val="BBCDD4"/>
          </p15:clr>
        </p15:guide>
        <p15:guide id="208" pos="2718">
          <p15:clr>
            <a:srgbClr val="BBCDD4"/>
          </p15:clr>
        </p15:guide>
        <p15:guide id="209" pos="3140">
          <p15:clr>
            <a:srgbClr val="BBCDD4"/>
          </p15:clr>
        </p15:guide>
        <p15:guide id="210" pos="3325">
          <p15:clr>
            <a:srgbClr val="BBCDD4"/>
          </p15:clr>
        </p15:guide>
        <p15:guide id="211" pos="3747">
          <p15:clr>
            <a:srgbClr val="BBCDD4"/>
          </p15:clr>
        </p15:guide>
        <p15:guide id="212" pos="3933">
          <p15:clr>
            <a:srgbClr val="BBCDD4"/>
          </p15:clr>
        </p15:guide>
        <p15:guide id="213" pos="4355">
          <p15:clr>
            <a:srgbClr val="BBCDD4"/>
          </p15:clr>
        </p15:guide>
        <p15:guide id="214" pos="4540">
          <p15:clr>
            <a:srgbClr val="BBCDD4"/>
          </p15:clr>
        </p15:guide>
        <p15:guide id="215" pos="4962">
          <p15:clr>
            <a:srgbClr val="BBCDD4"/>
          </p15:clr>
        </p15:guide>
        <p15:guide id="216" pos="5148">
          <p15:clr>
            <a:srgbClr val="BBCDD4"/>
          </p15:clr>
        </p15:guide>
        <p15:guide id="217" pos="5570">
          <p15:clr>
            <a:srgbClr val="BBCDD4"/>
          </p15:clr>
        </p15:guide>
        <p15:guide id="218" pos="5755">
          <p15:clr>
            <a:srgbClr val="BBCDD4"/>
          </p15:clr>
        </p15:guide>
        <p15:guide id="219" pos="6177">
          <p15:clr>
            <a:srgbClr val="BBCDD4"/>
          </p15:clr>
        </p15:guide>
        <p15:guide id="220" pos="6363">
          <p15:clr>
            <a:srgbClr val="BBCDD4"/>
          </p15:clr>
        </p15:guide>
        <p15:guide id="221" pos="6785">
          <p15:clr>
            <a:srgbClr val="BBCDD4"/>
          </p15:clr>
        </p15:guide>
        <p15:guide id="222" pos="6970">
          <p15:clr>
            <a:srgbClr val="BBCDD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A38A-A9F8-19DE-70F1-991AE9C0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67" y="2043820"/>
            <a:ext cx="7402530" cy="646331"/>
          </a:xfrm>
        </p:spPr>
        <p:txBody>
          <a:bodyPr/>
          <a:lstStyle/>
          <a:p>
            <a:pPr algn="l"/>
            <a:r>
              <a:rPr lang="en-US" sz="6000" b="1" dirty="0">
                <a:latin typeface="HP Forma DJR Office Medium" pitchFamily="2" charset="77"/>
                <a:ea typeface="Arial Black" pitchFamily="34" charset="-122"/>
                <a:cs typeface="Arial Black" pitchFamily="34" charset="-120"/>
              </a:rPr>
              <a:t>HP ZGX Fury G1n</a:t>
            </a:r>
            <a:br>
              <a:rPr lang="en-US" sz="6000" b="1" dirty="0">
                <a:solidFill>
                  <a:prstClr val="black"/>
                </a:solidFill>
                <a:highlight>
                  <a:srgbClr val="000000"/>
                </a:highlight>
                <a:latin typeface="HP Forma DJR Office Medium" pitchFamily="2" charset="77"/>
              </a:rPr>
            </a:br>
            <a:endParaRPr lang="en-US" sz="6000" b="1" dirty="0">
              <a:highlight>
                <a:srgbClr val="000000"/>
              </a:highlight>
              <a:latin typeface="HP Forma DJR Office Medium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EC1E753-B3D6-7E37-BFDC-5C5CDE2FA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20813" y="5806939"/>
            <a:ext cx="2592000" cy="593861"/>
          </a:xfrm>
        </p:spPr>
        <p:txBody>
          <a:bodyPr/>
          <a:lstStyle/>
          <a:p>
            <a:r>
              <a:rPr lang="en-US" dirty="0">
                <a:latin typeface="HP Forma DJR Office" pitchFamily="2" charset="77"/>
              </a:rPr>
              <a:t>April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2A2D2-FD30-DBD5-D754-837B04D32969}"/>
              </a:ext>
            </a:extLst>
          </p:cNvPr>
          <p:cNvSpPr txBox="1"/>
          <p:nvPr/>
        </p:nvSpPr>
        <p:spPr>
          <a:xfrm>
            <a:off x="735867" y="2782669"/>
            <a:ext cx="12117494" cy="64633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dirty="0">
                <a:latin typeface="HP Forma DJR Office" pitchFamily="2" charset="77"/>
                <a:ea typeface="Arial" pitchFamily="34" charset="-122"/>
                <a:cs typeface="Arial" pitchFamily="34" charset="-120"/>
              </a:rPr>
              <a:t>Datacenter-class AI. Deskside footprint.</a:t>
            </a:r>
            <a:endParaRPr lang="en-US" dirty="0">
              <a:latin typeface="HP Forma DJR Office" pitchFamily="2" charset="77"/>
            </a:endParaRPr>
          </a:p>
          <a:p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93265F-0A6C-2B75-8C37-65F6315C4A18}"/>
              </a:ext>
            </a:extLst>
          </p:cNvPr>
          <p:cNvSpPr/>
          <p:nvPr/>
        </p:nvSpPr>
        <p:spPr>
          <a:xfrm>
            <a:off x="735867" y="4724739"/>
            <a:ext cx="8534400" cy="60960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400" dirty="0">
                <a:latin typeface="HP Forma DJR Office" pitchFamily="2" charset="77"/>
                <a:ea typeface="Arial" pitchFamily="34" charset="-122"/>
                <a:cs typeface="Arial" pitchFamily="34" charset="-120"/>
              </a:rPr>
              <a:t>Author: Curtis Burkhalter, PhD, Technical PMM, ACS AI Solutions</a:t>
            </a:r>
            <a:endParaRPr lang="en-US" sz="1400" dirty="0">
              <a:latin typeface="HP Forma DJR Offic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524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846EB6-4920-8296-FFF8-A7A6A955E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AI spend is scaling.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8D9EAC-EEFD-E2B8-EA5A-B55C6A2B5E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Production AI shouldn’t require a data center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9A7099A-68FD-C98F-C060-09A70D039C85}"/>
              </a:ext>
            </a:extLst>
          </p:cNvPr>
          <p:cNvSpPr/>
          <p:nvPr/>
        </p:nvSpPr>
        <p:spPr>
          <a:xfrm>
            <a:off x="457200" y="1568468"/>
            <a:ext cx="5120640" cy="1584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632B303-0329-0790-F8D8-7E1ED43B57F3}"/>
              </a:ext>
            </a:extLst>
          </p:cNvPr>
          <p:cNvSpPr/>
          <p:nvPr/>
        </p:nvSpPr>
        <p:spPr>
          <a:xfrm>
            <a:off x="6065520" y="1568468"/>
            <a:ext cx="5120640" cy="1584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78B8FDB-965F-F33E-ACC2-64A50180E187}"/>
              </a:ext>
            </a:extLst>
          </p:cNvPr>
          <p:cNvSpPr/>
          <p:nvPr/>
        </p:nvSpPr>
        <p:spPr>
          <a:xfrm>
            <a:off x="457200" y="3458228"/>
            <a:ext cx="1072896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dirty="0">
                <a:latin typeface="+mj-lt"/>
                <a:ea typeface="Arial" pitchFamily="34" charset="-122"/>
                <a:cs typeface="Arial" pitchFamily="34" charset="-120"/>
              </a:rPr>
              <a:t>Common friction points:</a:t>
            </a:r>
            <a:endParaRPr lang="en-US" dirty="0">
              <a:latin typeface="+mj-lt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1230C2B-69B4-F042-0E6E-34A43F10787F}"/>
              </a:ext>
            </a:extLst>
          </p:cNvPr>
          <p:cNvSpPr/>
          <p:nvPr/>
        </p:nvSpPr>
        <p:spPr>
          <a:xfrm>
            <a:off x="457200" y="3944238"/>
            <a:ext cx="5120640" cy="48768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Cloud AI costs are unpredictable and escalating</a:t>
            </a: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srgbClr val="333333"/>
              </a:solidFill>
              <a:latin typeface="HP Forma DJR Office" pitchFamily="2" charset="0"/>
              <a:cs typeface="Arial" pitchFamily="34" charset="-12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Queue times slow development velocity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5FCC8FE-CFF3-AB32-AD02-D68A6A105187}"/>
              </a:ext>
            </a:extLst>
          </p:cNvPr>
          <p:cNvSpPr/>
          <p:nvPr/>
        </p:nvSpPr>
        <p:spPr>
          <a:xfrm>
            <a:off x="640080" y="1751348"/>
            <a:ext cx="3618769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1733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"We spend in excess of $35K/month to develop AI on the cloud."</a:t>
            </a:r>
            <a:r>
              <a:rPr lang="en-US" sz="1733" i="1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67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- HP customer, Federal SI</a:t>
            </a:r>
            <a:endParaRPr lang="en-US" sz="1733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2E23544-055D-8690-4688-858EE40E68F8}"/>
              </a:ext>
            </a:extLst>
          </p:cNvPr>
          <p:cNvSpPr/>
          <p:nvPr/>
        </p:nvSpPr>
        <p:spPr>
          <a:xfrm>
            <a:off x="6248400" y="1751348"/>
            <a:ext cx="3947786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1733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"AI inference is costing us about $45K/quarter on Azure."</a:t>
            </a:r>
            <a:r>
              <a:rPr lang="en-US" sz="1733" i="1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67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- HP AI Innovation Lead</a:t>
            </a:r>
            <a:endParaRPr lang="en-US" sz="1733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0533903-CE3F-4588-93E0-E820D818E51C}"/>
              </a:ext>
            </a:extLst>
          </p:cNvPr>
          <p:cNvSpPr/>
          <p:nvPr/>
        </p:nvSpPr>
        <p:spPr>
          <a:xfrm>
            <a:off x="6106438" y="3944238"/>
            <a:ext cx="5811242" cy="48768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Compliance requirements block cloud processing of sensitive data</a:t>
            </a: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Data centers require massive capital investment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72D8A9CD-F385-115D-8994-F6D172E5F487}"/>
              </a:ext>
            </a:extLst>
          </p:cNvPr>
          <p:cNvSpPr/>
          <p:nvPr/>
        </p:nvSpPr>
        <p:spPr>
          <a:xfrm>
            <a:off x="457200" y="5137968"/>
            <a:ext cx="10728960" cy="67056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schemeClr val="bg1"/>
              </a:solidFill>
              <a:latin typeface="HP Forma DJR Office" pitchFamily="2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4DCCB8A-B889-3FC0-85C4-F7DBFC9CEFBE}"/>
              </a:ext>
            </a:extLst>
          </p:cNvPr>
          <p:cNvSpPr/>
          <p:nvPr/>
        </p:nvSpPr>
        <p:spPr>
          <a:xfrm>
            <a:off x="640080" y="5272151"/>
            <a:ext cx="1036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+mj-ea"/>
                <a:cs typeface="Arial" pitchFamily="34" charset="-120"/>
              </a:rPr>
              <a:t>HP ZGX Fury: Production-grade AI compute - without compromising on security or predictability.</a:t>
            </a:r>
            <a:endParaRPr lang="en-US" dirty="0">
              <a:solidFill>
                <a:schemeClr val="bg1"/>
              </a:solidFill>
              <a:ea typeface="+mj-ea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3B6CDDB0-DF71-7D23-B7BC-6DB5CACD78F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For HP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35837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71666-1A6A-4DDF-7250-85B83E36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03F7-7C64-106B-9DC5-A98FE6A9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AI economics: the spending paradox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543B0C4-036C-07C4-8701-6FE705EC2A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HP Forma DJR Office" pitchFamily="2" charset="0"/>
              </a:rPr>
              <a:t>HP Restricted. For HP internal use only.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932ED1-ACFE-4064-9915-4C877267C107}"/>
              </a:ext>
            </a:extLst>
          </p:cNvPr>
          <p:cNvSpPr/>
          <p:nvPr/>
        </p:nvSpPr>
        <p:spPr>
          <a:xfrm>
            <a:off x="457200" y="1228088"/>
            <a:ext cx="4998720" cy="1770344"/>
          </a:xfrm>
          <a:prstGeom prst="rect">
            <a:avLst/>
          </a:prstGeom>
          <a:solidFill>
            <a:srgbClr val="024AD8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D46C37-5FF5-F4DC-F5DE-8F26D40E454D}"/>
              </a:ext>
            </a:extLst>
          </p:cNvPr>
          <p:cNvSpPr/>
          <p:nvPr/>
        </p:nvSpPr>
        <p:spPr>
          <a:xfrm>
            <a:off x="457200" y="1303244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280×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 Medium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30B3A3-55E6-63A2-CCC3-666F285EB074}"/>
              </a:ext>
            </a:extLst>
          </p:cNvPr>
          <p:cNvSpPr/>
          <p:nvPr/>
        </p:nvSpPr>
        <p:spPr>
          <a:xfrm>
            <a:off x="457200" y="2151674"/>
            <a:ext cx="4998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Token price drop in 2 years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647D58-1A95-6524-DB1F-9338EAC656B8}"/>
              </a:ext>
            </a:extLst>
          </p:cNvPr>
          <p:cNvSpPr/>
          <p:nvPr/>
        </p:nvSpPr>
        <p:spPr>
          <a:xfrm>
            <a:off x="5943600" y="1228088"/>
            <a:ext cx="4998720" cy="17703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CBE81B6-9738-2353-87A6-71A83655A299}"/>
              </a:ext>
            </a:extLst>
          </p:cNvPr>
          <p:cNvSpPr/>
          <p:nvPr/>
        </p:nvSpPr>
        <p:spPr>
          <a:xfrm>
            <a:off x="5943600" y="1303244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320%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 Medium" pitchFamily="2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4FEF90F-2D40-5661-7BE7-F20E8819755F}"/>
              </a:ext>
            </a:extLst>
          </p:cNvPr>
          <p:cNvSpPr/>
          <p:nvPr/>
        </p:nvSpPr>
        <p:spPr>
          <a:xfrm>
            <a:off x="5943600" y="2151674"/>
            <a:ext cx="4998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Rise in enterprise AI spending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F2C0FDD-BFCF-8E83-F699-762370F508E9}"/>
              </a:ext>
            </a:extLst>
          </p:cNvPr>
          <p:cNvSpPr/>
          <p:nvPr/>
        </p:nvSpPr>
        <p:spPr>
          <a:xfrm>
            <a:off x="457199" y="3178807"/>
            <a:ext cx="10991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  <a:ea typeface="Calibri" pitchFamily="34" charset="-122"/>
                <a:cs typeface="Calibri" pitchFamily="34" charset="-120"/>
              </a:rPr>
              <a:t>Why? Agentic workflows, RAG pipelines, and always-on agents consume compute at rates nobody planned for.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4CDE4CDE-D3E5-4218-4AAD-0A5A6F7F80B1}"/>
              </a:ext>
            </a:extLst>
          </p:cNvPr>
          <p:cNvSpPr/>
          <p:nvPr/>
        </p:nvSpPr>
        <p:spPr>
          <a:xfrm>
            <a:off x="457200" y="4000933"/>
            <a:ext cx="10485120" cy="158496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50C5DB1-8542-9D47-57BE-CCB002E1FC4B}"/>
              </a:ext>
            </a:extLst>
          </p:cNvPr>
          <p:cNvSpPr/>
          <p:nvPr/>
        </p:nvSpPr>
        <p:spPr>
          <a:xfrm>
            <a:off x="701040" y="4167942"/>
            <a:ext cx="99974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OpenAI: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Projected to lose $14B in 2026. Spends $2.25 for every $1 earned.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Anthropic: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Over $10B spent on inference and training vs. $5B in cumulative lifetime revenue.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GitHub Copilot: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Paused new signups for Pro, Pro+, and Student plans in April 2026.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AEE697D-04F5-D8B0-AF17-AD4ACE466872}"/>
              </a:ext>
            </a:extLst>
          </p:cNvPr>
          <p:cNvSpPr/>
          <p:nvPr/>
        </p:nvSpPr>
        <p:spPr>
          <a:xfrm>
            <a:off x="914400" y="6023886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Source: Product Impact, "The Free Ride Is Over," Apr 2026  |  Fortune, Nov 2025  |  The Register, Apr 2026  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productimpactpod.com/news/ai-economics-most-important-strategy-decision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308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7B642-DB97-1FC6-B9A5-38148564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AC080F-EE7F-CA78-E9B7-2BC69C185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Key features &amp; specifications of HP ZGX Fury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220A78-3674-0715-ECA3-2F032EA55C4A}"/>
              </a:ext>
            </a:extLst>
          </p:cNvPr>
          <p:cNvSpPr/>
          <p:nvPr/>
        </p:nvSpPr>
        <p:spPr>
          <a:xfrm>
            <a:off x="457200" y="1017082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 dirty="0">
                <a:latin typeface="+mj-lt"/>
                <a:ea typeface="Arial Black" pitchFamily="34" charset="-122"/>
                <a:cs typeface="Arial Black" pitchFamily="34" charset="-120"/>
              </a:rPr>
              <a:t>748GB</a:t>
            </a:r>
            <a:endParaRPr lang="en-US" sz="4800" dirty="0">
              <a:latin typeface="+mj-lt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4113D2C-DC2E-8B13-2209-5E1CFCF1A1CD}"/>
              </a:ext>
            </a:extLst>
          </p:cNvPr>
          <p:cNvSpPr/>
          <p:nvPr/>
        </p:nvSpPr>
        <p:spPr>
          <a:xfrm>
            <a:off x="533216" y="1721880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Coherent Memory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480BA2B-9EE2-7806-DFDB-7DE379CDCDD4}"/>
              </a:ext>
            </a:extLst>
          </p:cNvPr>
          <p:cNvSpPr/>
          <p:nvPr/>
        </p:nvSpPr>
        <p:spPr>
          <a:xfrm>
            <a:off x="4129856" y="1020220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>
                <a:latin typeface="+mj-lt"/>
                <a:ea typeface="Arial Black" pitchFamily="34" charset="-122"/>
                <a:cs typeface="Arial Black" pitchFamily="34" charset="-120"/>
              </a:rPr>
              <a:t>GB300</a:t>
            </a:r>
            <a:endParaRPr lang="en-US" sz="4800">
              <a:latin typeface="+mj-lt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B250E6C-CE75-15AB-9DC9-63D4E904E16E}"/>
              </a:ext>
            </a:extLst>
          </p:cNvPr>
          <p:cNvSpPr/>
          <p:nvPr/>
        </p:nvSpPr>
        <p:spPr>
          <a:xfrm>
            <a:off x="4129856" y="1669212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NVIDIA Blackwell Ultra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69B2E32-87BC-9C57-6930-56F18AB300BA}"/>
              </a:ext>
            </a:extLst>
          </p:cNvPr>
          <p:cNvSpPr/>
          <p:nvPr/>
        </p:nvSpPr>
        <p:spPr>
          <a:xfrm>
            <a:off x="7878896" y="1010135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>
                <a:latin typeface="+mj-lt"/>
                <a:ea typeface="Arial Black" pitchFamily="34" charset="-122"/>
                <a:cs typeface="Arial Black" pitchFamily="34" charset="-120"/>
              </a:rPr>
              <a:t>72 Core</a:t>
            </a:r>
            <a:endParaRPr lang="en-US" sz="4800">
              <a:latin typeface="+mj-lt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BF221D8-5765-C3A4-EB0F-714526D179F7}"/>
              </a:ext>
            </a:extLst>
          </p:cNvPr>
          <p:cNvSpPr/>
          <p:nvPr/>
        </p:nvSpPr>
        <p:spPr>
          <a:xfrm>
            <a:off x="7878896" y="1647025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ARM-based CPU 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A2EBBDAB-DA75-5F51-8E12-71D47E3AA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779621"/>
              </p:ext>
            </p:extLst>
          </p:nvPr>
        </p:nvGraphicFramePr>
        <p:xfrm>
          <a:off x="533216" y="2412783"/>
          <a:ext cx="10728960" cy="341376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Component</a:t>
                      </a:r>
                      <a:endParaRPr lang="en-US" sz="1500" b="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Specification</a:t>
                      </a:r>
                      <a:endParaRPr lang="en-US" sz="1500" b="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GPU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1x NVIDIA Blackwell Ultra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CPU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1x Grace-72 Core Neoverse V2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Memory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252GB HBM3e (7.1 TB/s) + 496GB LPDDR5X (396 GB/s)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Storage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2x PCIe Gen5 M.2 (OS) + 2x PCIe Gen6 M.2 (data)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Networking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ConnectX-8 </a:t>
                      </a:r>
                      <a:r>
                        <a:rPr lang="en-US" sz="1500" dirty="0" err="1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SuperNIC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, 800Gbps total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Form Factor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Convertible tower or rack (5U), liquid cooled, 1600W (20A)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Availability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August 2026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7B2F853A-A4C2-D0A9-C16F-09F15DC9016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For HP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84272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6FE3-D0E4-3BD9-4CD5-D76A260D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DA4510-C1C1-57B8-9D3F-29318BB7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What sets HP apart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4CB42-DB52-4D3E-02A6-9FF77E40C9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Same NVIDIA silicon. Different approach to software and support.</a:t>
            </a:r>
          </a:p>
          <a:p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D7BA1AC-F0C5-5673-4563-A17B0B996366}"/>
              </a:ext>
            </a:extLst>
          </p:cNvPr>
          <p:cNvSpPr/>
          <p:nvPr/>
        </p:nvSpPr>
        <p:spPr>
          <a:xfrm>
            <a:off x="457200" y="5211191"/>
            <a:ext cx="10728960" cy="71836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DDC7F2B-E305-DF4D-84E8-37AA05EAAC48}"/>
              </a:ext>
            </a:extLst>
          </p:cNvPr>
          <p:cNvSpPr/>
          <p:nvPr/>
        </p:nvSpPr>
        <p:spPr>
          <a:xfrm>
            <a:off x="996874" y="5285598"/>
            <a:ext cx="957968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219170">
              <a:lnSpc>
                <a:spcPts val="1960"/>
              </a:lnSpc>
            </a:pPr>
            <a:r>
              <a:rPr lang="en-US" dirty="0">
                <a:solidFill>
                  <a:schemeClr val="bg1"/>
                </a:solidFill>
                <a:ea typeface="+mj-ea"/>
                <a:cs typeface="Arial" pitchFamily="34" charset="-120"/>
              </a:rPr>
              <a:t>HP gives you the silicon and gets out of your way - no licensing tiers, no production pricing cliffs, no dependency on vendor software.</a:t>
            </a:r>
          </a:p>
          <a:p>
            <a:pPr algn="ctr" defTabSz="1219170">
              <a:lnSpc>
                <a:spcPts val="1960"/>
              </a:lnSpc>
            </a:pPr>
            <a:endParaRPr lang="en-US" dirty="0">
              <a:solidFill>
                <a:schemeClr val="bg1"/>
              </a:solidFill>
              <a:ea typeface="+mj-ea"/>
              <a:cs typeface="Arial" pitchFamily="34" charset="-120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31BA704-AE9A-F595-0F89-757C8D08E247}"/>
              </a:ext>
            </a:extLst>
          </p:cNvPr>
          <p:cNvSpPr/>
          <p:nvPr/>
        </p:nvSpPr>
        <p:spPr>
          <a:xfrm>
            <a:off x="457200" y="143167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3FA02D6-433D-A203-9CE9-069238DC3A4E}"/>
              </a:ext>
            </a:extLst>
          </p:cNvPr>
          <p:cNvSpPr/>
          <p:nvPr/>
        </p:nvSpPr>
        <p:spPr>
          <a:xfrm>
            <a:off x="640080" y="151325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ZGX Toolkit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C22914F-FCF9-1E3E-B8E9-81D4B5A235AF}"/>
              </a:ext>
            </a:extLst>
          </p:cNvPr>
          <p:cNvSpPr/>
          <p:nvPr/>
        </p:nvSpPr>
        <p:spPr>
          <a:xfrm>
            <a:off x="640080" y="1980311"/>
            <a:ext cx="1828800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04F379-0084-AF39-82FB-35A7F948690D}"/>
              </a:ext>
            </a:extLst>
          </p:cNvPr>
          <p:cNvSpPr/>
          <p:nvPr/>
        </p:nvSpPr>
        <p:spPr>
          <a:xfrm>
            <a:off x="754828" y="2004695"/>
            <a:ext cx="12192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Free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282DBA6-4B0D-401E-FFF5-F4DF6053F682}"/>
              </a:ext>
            </a:extLst>
          </p:cNvPr>
          <p:cNvSpPr/>
          <p:nvPr/>
        </p:nvSpPr>
        <p:spPr>
          <a:xfrm>
            <a:off x="640080" y="2356089"/>
            <a:ext cx="4738744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 dirty="0">
                <a:latin typeface="HP Forma DJR Office" pitchFamily="2" charset="0"/>
                <a:ea typeface="Arial" pitchFamily="34" charset="-122"/>
                <a:cs typeface="Arial" pitchFamily="34" charset="-120"/>
              </a:rPr>
              <a:t>Skip dependency hell. Open-source stack. Productive on day one. No vendor lock-in.</a:t>
            </a:r>
            <a:endParaRPr lang="en-US" sz="1300" dirty="0">
              <a:latin typeface="HP Forma DJR Office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C5256C83-521F-34F0-DCBC-23F09D6E5545}"/>
              </a:ext>
            </a:extLst>
          </p:cNvPr>
          <p:cNvSpPr/>
          <p:nvPr/>
        </p:nvSpPr>
        <p:spPr>
          <a:xfrm>
            <a:off x="6065520" y="143167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679AF6D-BB74-A049-3CC0-9B6E6C75C80B}"/>
              </a:ext>
            </a:extLst>
          </p:cNvPr>
          <p:cNvSpPr/>
          <p:nvPr/>
        </p:nvSpPr>
        <p:spPr>
          <a:xfrm>
            <a:off x="6248400" y="151325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ZGX CLI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ACB99A9-DB11-4209-294D-1168BF7C1EE8}"/>
              </a:ext>
            </a:extLst>
          </p:cNvPr>
          <p:cNvSpPr/>
          <p:nvPr/>
        </p:nvSpPr>
        <p:spPr>
          <a:xfrm>
            <a:off x="6248400" y="1980311"/>
            <a:ext cx="1819656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E571EA9-1115-401B-C589-C9091A7CFA1F}"/>
              </a:ext>
            </a:extLst>
          </p:cNvPr>
          <p:cNvSpPr/>
          <p:nvPr/>
        </p:nvSpPr>
        <p:spPr>
          <a:xfrm>
            <a:off x="6363148" y="2004695"/>
            <a:ext cx="12192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Free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9F4ECF93-326D-DEAC-338B-5E489E0ED7A2}"/>
              </a:ext>
            </a:extLst>
          </p:cNvPr>
          <p:cNvSpPr/>
          <p:nvPr/>
        </p:nvSpPr>
        <p:spPr>
          <a:xfrm>
            <a:off x="6248400" y="2356089"/>
            <a:ext cx="4482353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 dirty="0">
                <a:latin typeface="HP Forma DJR Office" pitchFamily="2" charset="0"/>
                <a:ea typeface="Arial" pitchFamily="34" charset="-122"/>
                <a:cs typeface="Arial" pitchFamily="34" charset="-120"/>
              </a:rPr>
              <a:t>Simple model serving. No licensing required for production inference.</a:t>
            </a:r>
            <a:endParaRPr lang="en-US" sz="1300" dirty="0">
              <a:latin typeface="HP Forma DJR Office" pitchFamily="2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43C78C59-F2A7-7F46-BD71-1E9C1EC26DD6}"/>
              </a:ext>
            </a:extLst>
          </p:cNvPr>
          <p:cNvSpPr/>
          <p:nvPr/>
        </p:nvSpPr>
        <p:spPr>
          <a:xfrm>
            <a:off x="457200" y="332143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5E93909-7475-E421-EDE3-37FB3CFE192A}"/>
              </a:ext>
            </a:extLst>
          </p:cNvPr>
          <p:cNvSpPr/>
          <p:nvPr/>
        </p:nvSpPr>
        <p:spPr>
          <a:xfrm>
            <a:off x="640080" y="340301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No Licensing Trap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8EEB9EA0-191D-C28A-8155-BB8DD0A28E8D}"/>
              </a:ext>
            </a:extLst>
          </p:cNvPr>
          <p:cNvSpPr/>
          <p:nvPr/>
        </p:nvSpPr>
        <p:spPr>
          <a:xfrm>
            <a:off x="640079" y="3870071"/>
            <a:ext cx="1815353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6268BBF8-F98B-F0E9-F07A-8A11E4E32128}"/>
              </a:ext>
            </a:extLst>
          </p:cNvPr>
          <p:cNvSpPr/>
          <p:nvPr/>
        </p:nvSpPr>
        <p:spPr>
          <a:xfrm>
            <a:off x="754828" y="3894455"/>
            <a:ext cx="15240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Predictable TCO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57478B1F-D43C-3305-9BF9-25C5D9325446}"/>
              </a:ext>
            </a:extLst>
          </p:cNvPr>
          <p:cNvSpPr/>
          <p:nvPr/>
        </p:nvSpPr>
        <p:spPr>
          <a:xfrm>
            <a:off x="640080" y="4245849"/>
            <a:ext cx="4998720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>
                <a:latin typeface="HP Forma DJR Office" pitchFamily="2" charset="0"/>
                <a:ea typeface="Arial" pitchFamily="34" charset="-122"/>
                <a:cs typeface="Arial" pitchFamily="34" charset="-120"/>
              </a:rPr>
              <a:t>Free for development AND production. No per-token metering. No pricing cliffs.</a:t>
            </a:r>
            <a:endParaRPr lang="en-US" sz="1300">
              <a:latin typeface="HP Forma DJR Office" pitchFamily="2" charset="0"/>
            </a:endParaRPr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56CA5209-53A7-C53B-E792-5E7F7DEF3BC4}"/>
              </a:ext>
            </a:extLst>
          </p:cNvPr>
          <p:cNvSpPr/>
          <p:nvPr/>
        </p:nvSpPr>
        <p:spPr>
          <a:xfrm>
            <a:off x="6065520" y="332143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801E01B9-719B-0A10-269B-1D861B39DA7F}"/>
              </a:ext>
            </a:extLst>
          </p:cNvPr>
          <p:cNvSpPr/>
          <p:nvPr/>
        </p:nvSpPr>
        <p:spPr>
          <a:xfrm>
            <a:off x="6248400" y="340301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HP Enterprise Support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BAFF7D2C-A333-1F1A-3605-AAB474D67417}"/>
              </a:ext>
            </a:extLst>
          </p:cNvPr>
          <p:cNvSpPr/>
          <p:nvPr/>
        </p:nvSpPr>
        <p:spPr>
          <a:xfrm>
            <a:off x="6248400" y="3870071"/>
            <a:ext cx="1819656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6DFDD638-D86A-BB69-B0CF-38532CCBD109}"/>
              </a:ext>
            </a:extLst>
          </p:cNvPr>
          <p:cNvSpPr/>
          <p:nvPr/>
        </p:nvSpPr>
        <p:spPr>
          <a:xfrm>
            <a:off x="6363148" y="3894455"/>
            <a:ext cx="1672814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Global coverage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C1B8961D-3E14-22DA-C7FC-0370F3F9CA7C}"/>
              </a:ext>
            </a:extLst>
          </p:cNvPr>
          <p:cNvSpPr/>
          <p:nvPr/>
        </p:nvSpPr>
        <p:spPr>
          <a:xfrm>
            <a:off x="6248400" y="4245849"/>
            <a:ext cx="4998720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>
                <a:latin typeface="HP Forma DJR Office" pitchFamily="2" charset="0"/>
                <a:ea typeface="Arial" pitchFamily="34" charset="-122"/>
                <a:cs typeface="Arial" pitchFamily="34" charset="-120"/>
              </a:rPr>
              <a:t>Enterprise-grade support from a trusted partner. Not a boutique OEM.</a:t>
            </a:r>
            <a:endParaRPr lang="en-US" sz="1300">
              <a:latin typeface="HP Forma DJR Office" pitchFamily="2" charset="0"/>
            </a:endParaRP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EFEA4457-23F7-9E00-E44E-EC63009412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For HP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12632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408F-59A7-62DB-BF0A-69A7EF7C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433A00-B60F-56A1-F802-C63D1C97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Developer-first AI environment</a:t>
            </a: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87BE0ED7-7641-0AB0-37EB-0ED2837B86B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For HP internal use only.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59029-E047-AC66-2235-16131A235F2C}"/>
              </a:ext>
            </a:extLst>
          </p:cNvPr>
          <p:cNvSpPr/>
          <p:nvPr/>
        </p:nvSpPr>
        <p:spPr bwMode="ltGray">
          <a:xfrm>
            <a:off x="319132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F0F9B3-13D3-CAEF-1052-DAA6ADFAEE0B}"/>
              </a:ext>
            </a:extLst>
          </p:cNvPr>
          <p:cNvGrpSpPr/>
          <p:nvPr/>
        </p:nvGrpSpPr>
        <p:grpSpPr>
          <a:xfrm>
            <a:off x="1972762" y="2142022"/>
            <a:ext cx="1572442" cy="1683277"/>
            <a:chOff x="5357844" y="4226609"/>
            <a:chExt cx="914400" cy="914400"/>
          </a:xfrm>
        </p:grpSpPr>
        <p:sp>
          <p:nvSpPr>
            <p:cNvPr id="17" name="Flowchart: Process 14">
              <a:extLst>
                <a:ext uri="{FF2B5EF4-FFF2-40B4-BE49-F238E27FC236}">
                  <a16:creationId xmlns:a16="http://schemas.microsoft.com/office/drawing/2014/main" id="{D0F4C6EA-2FDD-AEBA-890F-D5817CAB2543}"/>
                </a:ext>
              </a:extLst>
            </p:cNvPr>
            <p:cNvSpPr/>
            <p:nvPr/>
          </p:nvSpPr>
          <p:spPr bwMode="ltGray">
            <a:xfrm>
              <a:off x="5525507" y="4460407"/>
              <a:ext cx="574047" cy="366149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1823F6E-CB90-5C1A-A57C-3FD923DFC5BE}"/>
                </a:ext>
              </a:extLst>
            </p:cNvPr>
            <p:cNvGrpSpPr/>
            <p:nvPr/>
          </p:nvGrpSpPr>
          <p:grpSpPr>
            <a:xfrm>
              <a:off x="5357844" y="4226609"/>
              <a:ext cx="914400" cy="914400"/>
              <a:chOff x="1965115" y="5145695"/>
              <a:chExt cx="914400" cy="914400"/>
            </a:xfrm>
          </p:grpSpPr>
          <p:pic>
            <p:nvPicPr>
              <p:cNvPr id="19" name="Graphic 18" descr="Laptop with solid fill">
                <a:extLst>
                  <a:ext uri="{FF2B5EF4-FFF2-40B4-BE49-F238E27FC236}">
                    <a16:creationId xmlns:a16="http://schemas.microsoft.com/office/drawing/2014/main" id="{3B4D1BD9-2EF5-F29C-6BF0-F0DF59E9D1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965115" y="514569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4" name="Picture 2" descr="-">
                <a:extLst>
                  <a:ext uri="{FF2B5EF4-FFF2-40B4-BE49-F238E27FC236}">
                    <a16:creationId xmlns:a16="http://schemas.microsoft.com/office/drawing/2014/main" id="{63E7C708-6873-3502-F582-926DC64392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943" t="4629" r="15954" b="6951"/>
              <a:stretch>
                <a:fillRect/>
              </a:stretch>
            </p:blipFill>
            <p:spPr bwMode="auto">
              <a:xfrm>
                <a:off x="2114746" y="5379493"/>
                <a:ext cx="424817" cy="3184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DE7C15E-48B9-AAF9-63DB-F5CB0DF41786}"/>
              </a:ext>
            </a:extLst>
          </p:cNvPr>
          <p:cNvSpPr txBox="1"/>
          <p:nvPr/>
        </p:nvSpPr>
        <p:spPr>
          <a:xfrm>
            <a:off x="469543" y="2645107"/>
            <a:ext cx="1572442" cy="805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AI development with ZTK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VS code </a:t>
            </a:r>
            <a:r>
              <a:rPr lang="en-US" sz="1200" dirty="0">
                <a:solidFill>
                  <a:schemeClr val="bg1"/>
                </a:solidFill>
                <a:latin typeface="HP Forma DJR Office" pitchFamily="2" charset="0"/>
              </a:rPr>
              <a:t>e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xtension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C3ADDF8-A40C-EB36-9396-467A5F23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172" y="2726400"/>
            <a:ext cx="314891" cy="31489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D4CACAF-7404-65A2-C2D8-493163285D41}"/>
              </a:ext>
            </a:extLst>
          </p:cNvPr>
          <p:cNvSpPr txBox="1"/>
          <p:nvPr/>
        </p:nvSpPr>
        <p:spPr>
          <a:xfrm>
            <a:off x="527678" y="3787576"/>
            <a:ext cx="296487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Private by design. Your data stays local.</a:t>
            </a:r>
          </a:p>
        </p:txBody>
      </p:sp>
      <p:pic>
        <p:nvPicPr>
          <p:cNvPr id="38" name="Graphic 37" descr="Lock with solid fill">
            <a:extLst>
              <a:ext uri="{FF2B5EF4-FFF2-40B4-BE49-F238E27FC236}">
                <a16:creationId xmlns:a16="http://schemas.microsoft.com/office/drawing/2014/main" id="{FDE640D6-4936-64E5-B749-394FF6F165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134" y="3750471"/>
            <a:ext cx="221771" cy="221771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0208610-02EB-8673-49D4-09800385E57F}"/>
              </a:ext>
            </a:extLst>
          </p:cNvPr>
          <p:cNvSpPr/>
          <p:nvPr/>
        </p:nvSpPr>
        <p:spPr bwMode="ltGray">
          <a:xfrm>
            <a:off x="4755761" y="1227291"/>
            <a:ext cx="2334491" cy="3994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B05AAC-9FB8-CDAD-A605-4215393AA574}"/>
              </a:ext>
            </a:extLst>
          </p:cNvPr>
          <p:cNvSpPr/>
          <p:nvPr/>
        </p:nvSpPr>
        <p:spPr bwMode="ltGray">
          <a:xfrm>
            <a:off x="8368045" y="831955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488B25-52E9-598E-9600-D28260CAB905}"/>
              </a:ext>
            </a:extLst>
          </p:cNvPr>
          <p:cNvCxnSpPr>
            <a:cxnSpLocks/>
            <a:stCxn id="12" idx="3"/>
            <a:endCxn id="39" idx="1"/>
          </p:cNvCxnSpPr>
          <p:nvPr/>
        </p:nvCxnSpPr>
        <p:spPr bwMode="black">
          <a:xfrm flipV="1">
            <a:off x="3630368" y="3224655"/>
            <a:ext cx="1125393" cy="168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9FA66E-6563-DEB8-0377-85C7DD35E51A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 bwMode="black">
          <a:xfrm>
            <a:off x="7090252" y="3224655"/>
            <a:ext cx="1265092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F23F712-2736-0B83-47D0-3502B2D920DA}"/>
              </a:ext>
            </a:extLst>
          </p:cNvPr>
          <p:cNvSpPr/>
          <p:nvPr/>
        </p:nvSpPr>
        <p:spPr bwMode="ltGray">
          <a:xfrm>
            <a:off x="8355344" y="2562311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F8CCD7-1910-4554-6C11-A3EF147D791D}"/>
              </a:ext>
            </a:extLst>
          </p:cNvPr>
          <p:cNvSpPr/>
          <p:nvPr/>
        </p:nvSpPr>
        <p:spPr bwMode="ltGray">
          <a:xfrm>
            <a:off x="8368045" y="4292667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5" name="Connector: Elbow 28">
            <a:extLst>
              <a:ext uri="{FF2B5EF4-FFF2-40B4-BE49-F238E27FC236}">
                <a16:creationId xmlns:a16="http://schemas.microsoft.com/office/drawing/2014/main" id="{CA4E59F1-F2AD-38A6-C74C-781C9FCA8014}"/>
              </a:ext>
            </a:extLst>
          </p:cNvPr>
          <p:cNvCxnSpPr>
            <a:stCxn id="40" idx="1"/>
            <a:endCxn id="44" idx="1"/>
          </p:cNvCxnSpPr>
          <p:nvPr/>
        </p:nvCxnSpPr>
        <p:spPr bwMode="black">
          <a:xfrm rot="10800000" flipV="1">
            <a:off x="8368045" y="1494299"/>
            <a:ext cx="12700" cy="3460712"/>
          </a:xfrm>
          <a:prstGeom prst="bentConnector3">
            <a:avLst>
              <a:gd name="adj1" fmla="val 4745449"/>
            </a:avLst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BA99B6B-A1FA-3BE3-3D41-BB8578BFE271}"/>
              </a:ext>
            </a:extLst>
          </p:cNvPr>
          <p:cNvSpPr txBox="1"/>
          <p:nvPr/>
        </p:nvSpPr>
        <p:spPr>
          <a:xfrm>
            <a:off x="5007314" y="2301933"/>
            <a:ext cx="1793515" cy="30367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Device discovery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Find ZGXs on the network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Device 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p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airing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Connect two network devices in minutes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With VS code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Start building in minutes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Quick start 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t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emplates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Pre-configured packages and tools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6E96CA-807E-381B-74D3-DBD0770CD453}"/>
              </a:ext>
            </a:extLst>
          </p:cNvPr>
          <p:cNvSpPr txBox="1"/>
          <p:nvPr/>
        </p:nvSpPr>
        <p:spPr>
          <a:xfrm>
            <a:off x="5007314" y="1620418"/>
            <a:ext cx="199274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Everything you need, built in.</a:t>
            </a:r>
          </a:p>
        </p:txBody>
      </p:sp>
      <p:pic>
        <p:nvPicPr>
          <p:cNvPr id="48" name="Graphic 47" descr="Money outline">
            <a:extLst>
              <a:ext uri="{FF2B5EF4-FFF2-40B4-BE49-F238E27FC236}">
                <a16:creationId xmlns:a16="http://schemas.microsoft.com/office/drawing/2014/main" id="{7E3B359E-59C0-A650-93DB-6509E237D4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1345" y="1059038"/>
            <a:ext cx="705424" cy="705424"/>
          </a:xfrm>
          <a:prstGeom prst="rect">
            <a:avLst/>
          </a:prstGeom>
        </p:spPr>
      </p:pic>
      <p:pic>
        <p:nvPicPr>
          <p:cNvPr id="49" name="Graphic 48" descr="Programmer male outline">
            <a:extLst>
              <a:ext uri="{FF2B5EF4-FFF2-40B4-BE49-F238E27FC236}">
                <a16:creationId xmlns:a16="http://schemas.microsoft.com/office/drawing/2014/main" id="{E23505A7-ABE8-1CD5-2415-E5D347740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7216" y="2819479"/>
            <a:ext cx="729668" cy="729668"/>
          </a:xfrm>
          <a:prstGeom prst="rect">
            <a:avLst/>
          </a:prstGeom>
        </p:spPr>
      </p:pic>
      <p:pic>
        <p:nvPicPr>
          <p:cNvPr id="50" name="Graphic 49" descr="Rocket outline">
            <a:extLst>
              <a:ext uri="{FF2B5EF4-FFF2-40B4-BE49-F238E27FC236}">
                <a16:creationId xmlns:a16="http://schemas.microsoft.com/office/drawing/2014/main" id="{EE2BC24D-DF58-6F1E-9F2A-3625FC798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1557" y="4634468"/>
            <a:ext cx="641083" cy="64108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4A739FEB-6C58-4B8D-09C4-46878475744F}"/>
              </a:ext>
            </a:extLst>
          </p:cNvPr>
          <p:cNvSpPr txBox="1"/>
          <p:nvPr/>
        </p:nvSpPr>
        <p:spPr>
          <a:xfrm>
            <a:off x="9404924" y="1059038"/>
            <a:ext cx="1917699" cy="12003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No token 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c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ost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Run models locally.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No per-request or usage-based fees.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E1ACC6-7C56-31D6-24AC-231B44D3E41B}"/>
              </a:ext>
            </a:extLst>
          </p:cNvPr>
          <p:cNvSpPr txBox="1"/>
          <p:nvPr/>
        </p:nvSpPr>
        <p:spPr>
          <a:xfrm>
            <a:off x="9351136" y="2913952"/>
            <a:ext cx="215774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Developer 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p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roductivity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Pre-configured stack so you can build and iterate fast.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1FF0EF-FDA1-602A-4342-76B0A4A3445C}"/>
              </a:ext>
            </a:extLst>
          </p:cNvPr>
          <p:cNvSpPr txBox="1"/>
          <p:nvPr/>
        </p:nvSpPr>
        <p:spPr>
          <a:xfrm>
            <a:off x="9351659" y="4615015"/>
            <a:ext cx="215774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Local fine-tuning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Train models securely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on your own data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10FAD3-49D8-F23D-2204-071C62989091}"/>
              </a:ext>
            </a:extLst>
          </p:cNvPr>
          <p:cNvSpPr txBox="1"/>
          <p:nvPr/>
        </p:nvSpPr>
        <p:spPr>
          <a:xfrm>
            <a:off x="457200" y="5509947"/>
            <a:ext cx="738349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P Forma DJR Office" pitchFamily="2" charset="0"/>
              </a:rPr>
              <a:t>Develop and customize AI locally - with full control</a:t>
            </a:r>
          </a:p>
        </p:txBody>
      </p:sp>
    </p:spTree>
    <p:extLst>
      <p:ext uri="{BB962C8B-B14F-4D97-AF65-F5344CB8AC3E}">
        <p14:creationId xmlns:p14="http://schemas.microsoft.com/office/powerpoint/2010/main" val="59945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2069-148E-C231-96BC-74D66076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72666A-4841-970D-8536-B11C1847FD0F}"/>
              </a:ext>
            </a:extLst>
          </p:cNvPr>
          <p:cNvSpPr/>
          <p:nvPr/>
        </p:nvSpPr>
        <p:spPr bwMode="ltGray">
          <a:xfrm>
            <a:off x="4097756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E92430-7AC4-45FB-4207-41C86D89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Turn-key inferencing environment</a:t>
            </a: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F52890C8-0824-CC80-CB47-0BB244029AB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For HP internal use only.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4D78D-092A-9EC3-4630-418E705A93E3}"/>
              </a:ext>
            </a:extLst>
          </p:cNvPr>
          <p:cNvSpPr/>
          <p:nvPr/>
        </p:nvSpPr>
        <p:spPr bwMode="ltGray">
          <a:xfrm>
            <a:off x="319132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DB7FC-7B1E-EA68-CA5E-4E92CDD49079}"/>
              </a:ext>
            </a:extLst>
          </p:cNvPr>
          <p:cNvSpPr txBox="1"/>
          <p:nvPr/>
        </p:nvSpPr>
        <p:spPr>
          <a:xfrm>
            <a:off x="469543" y="2887461"/>
            <a:ext cx="182652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High-performance local AI execution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9AB68D-80DF-2363-E063-72EC89CF2A47}"/>
              </a:ext>
            </a:extLst>
          </p:cNvPr>
          <p:cNvSpPr txBox="1"/>
          <p:nvPr/>
        </p:nvSpPr>
        <p:spPr>
          <a:xfrm>
            <a:off x="2667100" y="3133682"/>
            <a:ext cx="436709" cy="1897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Fury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F731C1-DD0C-75F3-B390-188E3A367D1D}"/>
              </a:ext>
            </a:extLst>
          </p:cNvPr>
          <p:cNvSpPr/>
          <p:nvPr/>
        </p:nvSpPr>
        <p:spPr bwMode="ltGray">
          <a:xfrm>
            <a:off x="8368045" y="831955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7467FA-6C0A-90DF-BA86-4156AA9A335F}"/>
              </a:ext>
            </a:extLst>
          </p:cNvPr>
          <p:cNvCxnSpPr>
            <a:cxnSpLocks/>
            <a:stCxn id="12" idx="3"/>
          </p:cNvCxnSpPr>
          <p:nvPr/>
        </p:nvCxnSpPr>
        <p:spPr bwMode="black">
          <a:xfrm flipV="1">
            <a:off x="3630368" y="3224655"/>
            <a:ext cx="1125393" cy="168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F156477-FF8D-43D6-140A-7D9DEB315698}"/>
              </a:ext>
            </a:extLst>
          </p:cNvPr>
          <p:cNvCxnSpPr>
            <a:cxnSpLocks/>
            <a:endCxn id="43" idx="1"/>
          </p:cNvCxnSpPr>
          <p:nvPr/>
        </p:nvCxnSpPr>
        <p:spPr bwMode="black">
          <a:xfrm>
            <a:off x="7090252" y="3224655"/>
            <a:ext cx="1265092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E25277A-D636-FCC6-11E3-047F5354DAA0}"/>
              </a:ext>
            </a:extLst>
          </p:cNvPr>
          <p:cNvSpPr/>
          <p:nvPr/>
        </p:nvSpPr>
        <p:spPr bwMode="ltGray">
          <a:xfrm>
            <a:off x="8355344" y="2562311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9E5C62-455E-2852-6AF6-71538CDBFC32}"/>
              </a:ext>
            </a:extLst>
          </p:cNvPr>
          <p:cNvSpPr/>
          <p:nvPr/>
        </p:nvSpPr>
        <p:spPr bwMode="ltGray">
          <a:xfrm>
            <a:off x="8368045" y="4292667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5" name="Connector: Elbow 28">
            <a:extLst>
              <a:ext uri="{FF2B5EF4-FFF2-40B4-BE49-F238E27FC236}">
                <a16:creationId xmlns:a16="http://schemas.microsoft.com/office/drawing/2014/main" id="{F1465992-EFDE-A7A7-3B05-F9E4E1A446E1}"/>
              </a:ext>
            </a:extLst>
          </p:cNvPr>
          <p:cNvCxnSpPr>
            <a:stCxn id="40" idx="1"/>
            <a:endCxn id="44" idx="1"/>
          </p:cNvCxnSpPr>
          <p:nvPr/>
        </p:nvCxnSpPr>
        <p:spPr bwMode="black">
          <a:xfrm rot="10800000" flipV="1">
            <a:off x="8368045" y="1494299"/>
            <a:ext cx="12700" cy="3460712"/>
          </a:xfrm>
          <a:prstGeom prst="bentConnector3">
            <a:avLst>
              <a:gd name="adj1" fmla="val 4745449"/>
            </a:avLst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DECF475-DA5F-3E16-7688-A90B5B077A64}"/>
              </a:ext>
            </a:extLst>
          </p:cNvPr>
          <p:cNvSpPr txBox="1"/>
          <p:nvPr/>
        </p:nvSpPr>
        <p:spPr>
          <a:xfrm>
            <a:off x="9512500" y="1193508"/>
            <a:ext cx="1917699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Model inference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Run LLMs and other models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at scale</a:t>
            </a: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F9F19E-57A0-37B6-E4F9-B04343AE6F8D}"/>
              </a:ext>
            </a:extLst>
          </p:cNvPr>
          <p:cNvSpPr txBox="1"/>
          <p:nvPr/>
        </p:nvSpPr>
        <p:spPr>
          <a:xfrm>
            <a:off x="9458712" y="2792929"/>
            <a:ext cx="1595516" cy="12618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OpenAI – 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c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ompatible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 APIs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Seamless integration with your applications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8A245E-7FA0-9644-F08D-B7942229DB51}"/>
              </a:ext>
            </a:extLst>
          </p:cNvPr>
          <p:cNvSpPr txBox="1"/>
          <p:nvPr/>
        </p:nvSpPr>
        <p:spPr>
          <a:xfrm>
            <a:off x="9459235" y="4520886"/>
            <a:ext cx="1970964" cy="12618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High performance </a:t>
            </a:r>
            <a:b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</a:b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at scale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Low latency, high throughput, concurrent workloads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66CFFB-32A0-5497-0015-7DFEE48215C2}"/>
              </a:ext>
            </a:extLst>
          </p:cNvPr>
          <p:cNvSpPr txBox="1"/>
          <p:nvPr/>
        </p:nvSpPr>
        <p:spPr>
          <a:xfrm>
            <a:off x="457200" y="4955010"/>
            <a:ext cx="5338296" cy="1051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P Forma DJR Office" pitchFamily="2" charset="0"/>
              </a:rPr>
              <a:t>Pre-configured stacks and CLI-driven workflows to go from model to inference in minutes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P Forma DJR Office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8E9828-8F64-BF2D-7917-103B83F4468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577"/>
                    </a14:imgEffect>
                    <a14:imgEffect>
                      <a14:saturation sat="9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8619" y="2503296"/>
            <a:ext cx="1280158" cy="1442716"/>
          </a:xfrm>
          <a:prstGeom prst="rect">
            <a:avLst/>
          </a:prstGeom>
        </p:spPr>
      </p:pic>
      <p:pic>
        <p:nvPicPr>
          <p:cNvPr id="3" name="Graphic 2" descr="Download from cloud outline">
            <a:extLst>
              <a:ext uri="{FF2B5EF4-FFF2-40B4-BE49-F238E27FC236}">
                <a16:creationId xmlns:a16="http://schemas.microsoft.com/office/drawing/2014/main" id="{B673F07B-30D5-6F4F-A337-E207658B8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8328" y="1149395"/>
            <a:ext cx="685572" cy="685572"/>
          </a:xfrm>
          <a:prstGeom prst="rect">
            <a:avLst/>
          </a:prstGeom>
        </p:spPr>
      </p:pic>
      <p:pic>
        <p:nvPicPr>
          <p:cNvPr id="4" name="Graphic 3" descr="Speedometer Middle outline">
            <a:extLst>
              <a:ext uri="{FF2B5EF4-FFF2-40B4-BE49-F238E27FC236}">
                <a16:creationId xmlns:a16="http://schemas.microsoft.com/office/drawing/2014/main" id="{B943FCF4-D49B-871E-EAF7-2C4384C76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8328" y="4547820"/>
            <a:ext cx="692726" cy="6927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364D6F-3C18-C97F-E360-C63C5EFCF3F8}"/>
              </a:ext>
            </a:extLst>
          </p:cNvPr>
          <p:cNvSpPr/>
          <p:nvPr/>
        </p:nvSpPr>
        <p:spPr>
          <a:xfrm>
            <a:off x="8619565" y="2874014"/>
            <a:ext cx="635668" cy="6356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hemeClr val="tx1"/>
          </a:fontRef>
        </p:style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0EFD2-8551-7AA6-08AF-B11CBC281136}"/>
              </a:ext>
            </a:extLst>
          </p:cNvPr>
          <p:cNvSpPr txBox="1"/>
          <p:nvPr/>
        </p:nvSpPr>
        <p:spPr>
          <a:xfrm>
            <a:off x="8605014" y="3075719"/>
            <a:ext cx="6600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API</a:t>
            </a:r>
          </a:p>
        </p:txBody>
      </p:sp>
      <p:pic>
        <p:nvPicPr>
          <p:cNvPr id="8" name="Graphic 7" descr="Cmd Terminal with solid fill">
            <a:extLst>
              <a:ext uri="{FF2B5EF4-FFF2-40B4-BE49-F238E27FC236}">
                <a16:creationId xmlns:a16="http://schemas.microsoft.com/office/drawing/2014/main" id="{BCB80463-E249-495C-274B-CB800F8FA4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0007" y="2802174"/>
            <a:ext cx="742659" cy="742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4217D0-0783-CC58-A7B1-581F4B891EDC}"/>
              </a:ext>
            </a:extLst>
          </p:cNvPr>
          <p:cNvSpPr txBox="1"/>
          <p:nvPr/>
        </p:nvSpPr>
        <p:spPr>
          <a:xfrm>
            <a:off x="5353611" y="2580408"/>
            <a:ext cx="2120725" cy="13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Z Runtime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Pull Models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Start Inference Service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Create Endpoints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Monitor &amp; Manage</a:t>
            </a:r>
          </a:p>
        </p:txBody>
      </p:sp>
    </p:spTree>
    <p:extLst>
      <p:ext uri="{BB962C8B-B14F-4D97-AF65-F5344CB8AC3E}">
        <p14:creationId xmlns:p14="http://schemas.microsoft.com/office/powerpoint/2010/main" val="122030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20E3C6-A988-9932-83EE-BB21AE504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285"/>
          <a:stretch>
            <a:fillRect/>
          </a:stretch>
        </p:blipFill>
        <p:spPr>
          <a:xfrm>
            <a:off x="30480" y="6240778"/>
            <a:ext cx="573096" cy="548641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From Experimentation to Production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One platform, two tiers - start developing on the Nano, scale to the Fury when your workloads demand it.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HP ZGX Nano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Where AI development begins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Experiment, fine-tune, and validate locally - no cloud costs, no data leaving your building.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Built for: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AI developers iterating on models up to 70B parameters (fine-tuning) and 200B parameters (local inference). Ideal for prototyping,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QLoRA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fine-tuning, and proof-of-concept development.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4434840"/>
          <a:ext cx="5029200" cy="1143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9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9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GB10 Grace Blackwell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GB coherent unified (273 GB/s)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Tensor Perf.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1 PFLOP FP4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 Factor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 desktop - 240W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99762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24A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Scale up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24AD8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HP ZGX Fury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9224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Where AI goes to production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Run production inference at departmental scale - serve multiple concurrent users with frontier-class models, on-prem.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Built for: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Teams deploying production AI services, running large-scale fine-tuning, and serving high-throughput inference for enterprise applications. Departmental AI infrastructure without the data center.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aphicFrame>
        <p:nvGraphicFramePr>
          <p:cNvPr id="18" name="Table 1"/>
          <p:cNvGraphicFramePr>
            <a:graphicFrameLocks noGrp="1"/>
          </p:cNvGraphicFramePr>
          <p:nvPr/>
        </p:nvGraphicFramePr>
        <p:xfrm>
          <a:off x="6492240" y="4434840"/>
          <a:ext cx="5029200" cy="1143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1x NVIDIA Blackwell Ultra (GB300)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 GB coherent (7.1 TB/s HBM3e + 396 GB/s)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72-core Grace Neoverse V2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 Factor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Tower / 5U rack - liquid cooled, 1600W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0" y="5760720"/>
            <a:ext cx="1216152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ZGX platform eliminates the false choice between local OR cloud. Start on the Nano - experiment freely, iterate fast, keep your data local.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When you're ready for production inference or heavier fine-tuning, scale to the Fury without changing your workflow, and if you still need more power push to the cloud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686800" y="6492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HP Restricted. For HP internal use only.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C9DBB16-04B7-0E2A-62BD-035BD8DC3AE2}"/>
              </a:ext>
            </a:extLst>
          </p:cNvPr>
          <p:cNvSpPr/>
          <p:nvPr/>
        </p:nvSpPr>
        <p:spPr>
          <a:xfrm>
            <a:off x="5916706" y="3153335"/>
            <a:ext cx="376518" cy="18422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hemeClr val="tx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18A9-5E7D-C720-D249-D5BD48E6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B6574-0A2E-FD5C-55E9-28E6A1C6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The right tool for the right workload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49D0DE-2404-D542-B165-20CE7724FB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Cloud and on-prem serve different needs. Here's how to choose.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6C8F75C-2B87-F768-BA35-0234BD2958A9}"/>
              </a:ext>
            </a:extLst>
          </p:cNvPr>
          <p:cNvSpPr/>
          <p:nvPr/>
        </p:nvSpPr>
        <p:spPr>
          <a:xfrm>
            <a:off x="457200" y="4859166"/>
            <a:ext cx="10728960" cy="1026546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C25BD500-569C-8DCB-9811-91402E1EE5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For HP internal use only.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C0D69A3-6BC5-2421-D05D-7D24AE00436E}"/>
              </a:ext>
            </a:extLst>
          </p:cNvPr>
          <p:cNvSpPr/>
          <p:nvPr/>
        </p:nvSpPr>
        <p:spPr>
          <a:xfrm>
            <a:off x="457200" y="1517348"/>
            <a:ext cx="5242560" cy="487680"/>
          </a:xfrm>
          <a:prstGeom prst="rect">
            <a:avLst/>
          </a:prstGeom>
          <a:solidFill>
            <a:srgbClr val="024AD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91C6DD7-D6BF-FA50-C1D5-679C61710CE9}"/>
              </a:ext>
            </a:extLst>
          </p:cNvPr>
          <p:cNvSpPr/>
          <p:nvPr/>
        </p:nvSpPr>
        <p:spPr>
          <a:xfrm>
            <a:off x="579120" y="1578308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When ZGX Fury is the right fit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1556292-AD27-DD95-22F7-FD6ED96540F6}"/>
              </a:ext>
            </a:extLst>
          </p:cNvPr>
          <p:cNvSpPr/>
          <p:nvPr/>
        </p:nvSpPr>
        <p:spPr>
          <a:xfrm>
            <a:off x="579120" y="2126948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Data can't leave your facility (HIPAA, ITAR, IP)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5307B10-32A6-F1DC-47C3-283F204328C8}"/>
              </a:ext>
            </a:extLst>
          </p:cNvPr>
          <p:cNvSpPr/>
          <p:nvPr/>
        </p:nvSpPr>
        <p:spPr>
          <a:xfrm>
            <a:off x="579120" y="2635247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Cloud costs have become a concern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0055335-474D-7E1F-A4B3-DB5140A5B9A6}"/>
              </a:ext>
            </a:extLst>
          </p:cNvPr>
          <p:cNvSpPr/>
          <p:nvPr/>
        </p:nvSpPr>
        <p:spPr>
          <a:xfrm>
            <a:off x="579120" y="3143546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Queue times are slowing your AI team’s development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ADFED93-0D0C-D8A1-B85D-E4F177453E13}"/>
              </a:ext>
            </a:extLst>
          </p:cNvPr>
          <p:cNvSpPr/>
          <p:nvPr/>
        </p:nvSpPr>
        <p:spPr>
          <a:xfrm>
            <a:off x="579120" y="3651845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You need deterministic latency for production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4F03A8C-3FC8-9799-CDE8-4D6AE496509E}"/>
              </a:ext>
            </a:extLst>
          </p:cNvPr>
          <p:cNvSpPr/>
          <p:nvPr/>
        </p:nvSpPr>
        <p:spPr>
          <a:xfrm>
            <a:off x="579120" y="4160144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You want predictable CapEx, not variable OpEx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48A75EB7-D63C-0EDA-A3CC-1B224185ADE7}"/>
              </a:ext>
            </a:extLst>
          </p:cNvPr>
          <p:cNvSpPr/>
          <p:nvPr/>
        </p:nvSpPr>
        <p:spPr>
          <a:xfrm>
            <a:off x="5943600" y="1517348"/>
            <a:ext cx="5242560" cy="4876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008FECB4-12F7-57C4-A8EB-8D4D8BC44113}"/>
              </a:ext>
            </a:extLst>
          </p:cNvPr>
          <p:cNvSpPr/>
          <p:nvPr/>
        </p:nvSpPr>
        <p:spPr>
          <a:xfrm>
            <a:off x="6065520" y="1578308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latin typeface="+mj-lt"/>
                <a:ea typeface="Arial" pitchFamily="34" charset="-122"/>
                <a:cs typeface="Arial" pitchFamily="34" charset="-120"/>
              </a:rPr>
              <a:t>When cloud is still the right fit</a:t>
            </a:r>
            <a:endParaRPr lang="en-US" dirty="0">
              <a:latin typeface="+mj-lt"/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57378CCB-89D0-BE6D-EA6F-DF837C95F409}"/>
              </a:ext>
            </a:extLst>
          </p:cNvPr>
          <p:cNvSpPr/>
          <p:nvPr/>
        </p:nvSpPr>
        <p:spPr>
          <a:xfrm>
            <a:off x="6065520" y="2126948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You're experimenting and need elastic scale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A117CB05-8176-459D-C3D3-84E9A57147F4}"/>
              </a:ext>
            </a:extLst>
          </p:cNvPr>
          <p:cNvSpPr/>
          <p:nvPr/>
        </p:nvSpPr>
        <p:spPr>
          <a:xfrm>
            <a:off x="6065520" y="2635247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Workloads are bursty and unpredictable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F2DA3EF2-BBEE-075A-9EEF-9B1E8A87B254}"/>
              </a:ext>
            </a:extLst>
          </p:cNvPr>
          <p:cNvSpPr/>
          <p:nvPr/>
        </p:nvSpPr>
        <p:spPr>
          <a:xfrm>
            <a:off x="6065520" y="3143546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No compliance constraints on data processing location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B8C846C-25FD-8BC9-D58E-685A0FE84970}"/>
              </a:ext>
            </a:extLst>
          </p:cNvPr>
          <p:cNvSpPr/>
          <p:nvPr/>
        </p:nvSpPr>
        <p:spPr>
          <a:xfrm>
            <a:off x="6065520" y="3651845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You only need access to frontier models via API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26700B84-367C-CFE5-6933-41E5B7D4F17B}"/>
              </a:ext>
            </a:extLst>
          </p:cNvPr>
          <p:cNvSpPr/>
          <p:nvPr/>
        </p:nvSpPr>
        <p:spPr>
          <a:xfrm>
            <a:off x="6065520" y="4160144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 You're not yet hitting cost or queue friction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661D1740-7C57-7E33-F958-6943B82AD95D}"/>
              </a:ext>
            </a:extLst>
          </p:cNvPr>
          <p:cNvSpPr/>
          <p:nvPr/>
        </p:nvSpPr>
        <p:spPr>
          <a:xfrm>
            <a:off x="579120" y="4900773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Most organizations use both.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8FE564D1-3102-E4E6-4DE1-BDB70E33C994}"/>
              </a:ext>
            </a:extLst>
          </p:cNvPr>
          <p:cNvSpPr/>
          <p:nvPr/>
        </p:nvSpPr>
        <p:spPr>
          <a:xfrm>
            <a:off x="579120" y="5266533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chemeClr val="bg1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ZGX Fury handles the workloads where cloud isn't the right answer - compliance-sensitive development, cost-sensitive inference, and workflows where data gravity matters.</a:t>
            </a:r>
            <a:endParaRPr lang="en-US" sz="1467" dirty="0">
              <a:solidFill>
                <a:schemeClr val="bg1"/>
              </a:solidFill>
              <a:latin typeface="HP Forma DJR Off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1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A247-08FA-6DB5-B509-27552C9F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82F180-491D-7EB1-777D-D951D07E5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ZGX Fury: use cases by vertical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D1EC9A-28AF-1CF1-88BA-2E3A8E332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AI development &amp; production inference across industries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98DF7D53-39D9-6E73-0B7A-D73CF57DB2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For HP internal use only.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031204D-6EF4-9E93-D8E8-23BF5144A5EC}"/>
              </a:ext>
            </a:extLst>
          </p:cNvPr>
          <p:cNvGrpSpPr/>
          <p:nvPr/>
        </p:nvGrpSpPr>
        <p:grpSpPr>
          <a:xfrm>
            <a:off x="456000" y="1503263"/>
            <a:ext cx="2938451" cy="4278971"/>
            <a:chOff x="456000" y="1503263"/>
            <a:chExt cx="2938451" cy="4278971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BD0365D7-BA10-429F-A50D-9D09290CFD13}"/>
                </a:ext>
              </a:extLst>
            </p:cNvPr>
            <p:cNvSpPr/>
            <p:nvPr/>
          </p:nvSpPr>
          <p:spPr>
            <a:xfrm>
              <a:off x="456000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8E99952A-CFF8-F2F6-B9ED-C0D1FB8048E3}"/>
                </a:ext>
              </a:extLst>
            </p:cNvPr>
            <p:cNvSpPr/>
            <p:nvPr/>
          </p:nvSpPr>
          <p:spPr>
            <a:xfrm>
              <a:off x="645155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Healthcare</a:t>
              </a:r>
              <a:endParaRPr lang="en-US" dirty="0">
                <a:latin typeface="+mj-lt"/>
              </a:endParaRPr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4A494F14-A705-248D-4647-5BD2D43A61F9}"/>
                </a:ext>
              </a:extLst>
            </p:cNvPr>
            <p:cNvSpPr/>
            <p:nvPr/>
          </p:nvSpPr>
          <p:spPr>
            <a:xfrm>
              <a:off x="645155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AI development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A9CDB402-6FFC-E64A-9CB6-8E8650F69988}"/>
                </a:ext>
              </a:extLst>
            </p:cNvPr>
            <p:cNvSpPr/>
            <p:nvPr/>
          </p:nvSpPr>
          <p:spPr>
            <a:xfrm>
              <a:off x="645155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Fine-tune medical imaging models on patient data</a:t>
              </a:r>
              <a:endParaRPr lang="en-US" sz="1200" dirty="0">
                <a:latin typeface="HP Forma DJR Office" pitchFamily="2" charset="77"/>
              </a:endParaRPr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0200585B-530F-D0CE-85BB-805AD6882430}"/>
                </a:ext>
              </a:extLst>
            </p:cNvPr>
            <p:cNvSpPr/>
            <p:nvPr/>
          </p:nvSpPr>
          <p:spPr>
            <a:xfrm>
              <a:off x="645155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HIPAA compliant</a:t>
              </a:r>
              <a:endParaRPr lang="en-US" sz="1000" dirty="0">
                <a:latin typeface="HP Forma DJR Office" pitchFamily="2" charset="77"/>
              </a:endParaRP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Proprietary clinical datasets</a:t>
              </a:r>
              <a:endParaRPr lang="en-US" sz="1000" dirty="0">
                <a:latin typeface="HP Forma DJR Office" pitchFamily="2" charset="77"/>
              </a:endParaRP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Iterate without cloud loops</a:t>
              </a:r>
              <a:endParaRPr lang="en-US" sz="1000" dirty="0">
                <a:latin typeface="HP Forma DJR Office" pitchFamily="2" charset="77"/>
              </a:endParaRPr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06FB99BA-6144-A5DB-31C1-C173CD158604}"/>
                </a:ext>
              </a:extLst>
            </p:cNvPr>
            <p:cNvSpPr/>
            <p:nvPr/>
          </p:nvSpPr>
          <p:spPr>
            <a:xfrm>
              <a:off x="456000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382BA1F7-9C9B-7039-870D-0526B99D32B1}"/>
                </a:ext>
              </a:extLst>
            </p:cNvPr>
            <p:cNvSpPr/>
            <p:nvPr/>
          </p:nvSpPr>
          <p:spPr>
            <a:xfrm>
              <a:off x="645155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Why ZGX Fury? 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7517F707-89D2-23A1-D463-22D8EC3C33A5}"/>
                </a:ext>
              </a:extLst>
            </p:cNvPr>
            <p:cNvSpPr/>
            <p:nvPr/>
          </p:nvSpPr>
          <p:spPr>
            <a:xfrm>
              <a:off x="645155" y="5238577"/>
              <a:ext cx="1767247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On-prem compliance, zero data movement</a:t>
              </a:r>
              <a:endParaRPr lang="en-US" sz="1200" dirty="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69" name="Text 5">
              <a:extLst>
                <a:ext uri="{FF2B5EF4-FFF2-40B4-BE49-F238E27FC236}">
                  <a16:creationId xmlns:a16="http://schemas.microsoft.com/office/drawing/2014/main" id="{6CFBC0E5-D5A4-5705-B3E8-BDEFA9E2C22C}"/>
                </a:ext>
              </a:extLst>
            </p:cNvPr>
            <p:cNvSpPr/>
            <p:nvPr/>
          </p:nvSpPr>
          <p:spPr>
            <a:xfrm>
              <a:off x="645155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Production inference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0" name="Text 6">
              <a:extLst>
                <a:ext uri="{FF2B5EF4-FFF2-40B4-BE49-F238E27FC236}">
                  <a16:creationId xmlns:a16="http://schemas.microsoft.com/office/drawing/2014/main" id="{6AD32777-EE23-E5FD-12A9-90DA096946FB}"/>
                </a:ext>
              </a:extLst>
            </p:cNvPr>
            <p:cNvSpPr/>
            <p:nvPr/>
          </p:nvSpPr>
          <p:spPr>
            <a:xfrm>
              <a:off x="645155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Real-time radiology AI assist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1" name="Text 7">
              <a:extLst>
                <a:ext uri="{FF2B5EF4-FFF2-40B4-BE49-F238E27FC236}">
                  <a16:creationId xmlns:a16="http://schemas.microsoft.com/office/drawing/2014/main" id="{E21CF8CD-E02A-8B7B-EE1C-C1F801F068BD}"/>
                </a:ext>
              </a:extLst>
            </p:cNvPr>
            <p:cNvSpPr/>
            <p:nvPr/>
          </p:nvSpPr>
          <p:spPr>
            <a:xfrm>
              <a:off x="645155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Deterministic latency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Local diagnostic imaging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Multi-clinician support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2C6DB44-E302-F97E-42F2-6FB5399F5922}"/>
              </a:ext>
            </a:extLst>
          </p:cNvPr>
          <p:cNvGrpSpPr/>
          <p:nvPr/>
        </p:nvGrpSpPr>
        <p:grpSpPr>
          <a:xfrm>
            <a:off x="3329188" y="1503263"/>
            <a:ext cx="2938451" cy="4278971"/>
            <a:chOff x="3347117" y="1503263"/>
            <a:chExt cx="2938451" cy="4278971"/>
          </a:xfrm>
        </p:grpSpPr>
        <p:sp>
          <p:nvSpPr>
            <p:cNvPr id="72" name="Shape 2">
              <a:extLst>
                <a:ext uri="{FF2B5EF4-FFF2-40B4-BE49-F238E27FC236}">
                  <a16:creationId xmlns:a16="http://schemas.microsoft.com/office/drawing/2014/main" id="{D2F0A2C5-720A-B4A8-259B-7B2FF1824A24}"/>
                </a:ext>
              </a:extLst>
            </p:cNvPr>
            <p:cNvSpPr/>
            <p:nvPr/>
          </p:nvSpPr>
          <p:spPr>
            <a:xfrm>
              <a:off x="3347117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3" name="Text 4">
              <a:extLst>
                <a:ext uri="{FF2B5EF4-FFF2-40B4-BE49-F238E27FC236}">
                  <a16:creationId xmlns:a16="http://schemas.microsoft.com/office/drawing/2014/main" id="{DB054C36-6F6A-114C-FF4A-25DF6B499A28}"/>
                </a:ext>
              </a:extLst>
            </p:cNvPr>
            <p:cNvSpPr/>
            <p:nvPr/>
          </p:nvSpPr>
          <p:spPr>
            <a:xfrm>
              <a:off x="3536272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Government &amp; defense</a:t>
              </a:r>
              <a:endParaRPr lang="en-US" dirty="0">
                <a:latin typeface="+mj-lt"/>
              </a:endParaRPr>
            </a:p>
          </p:txBody>
        </p:sp>
        <p:sp>
          <p:nvSpPr>
            <p:cNvPr id="74" name="Text 5">
              <a:extLst>
                <a:ext uri="{FF2B5EF4-FFF2-40B4-BE49-F238E27FC236}">
                  <a16:creationId xmlns:a16="http://schemas.microsoft.com/office/drawing/2014/main" id="{E8728ED8-09FB-6E77-C78E-DF817E5AF188}"/>
                </a:ext>
              </a:extLst>
            </p:cNvPr>
            <p:cNvSpPr/>
            <p:nvPr/>
          </p:nvSpPr>
          <p:spPr>
            <a:xfrm>
              <a:off x="3536272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AI development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5" name="Text 6">
              <a:extLst>
                <a:ext uri="{FF2B5EF4-FFF2-40B4-BE49-F238E27FC236}">
                  <a16:creationId xmlns:a16="http://schemas.microsoft.com/office/drawing/2014/main" id="{EE063CD0-8786-9945-588C-B567F7B9DF22}"/>
                </a:ext>
              </a:extLst>
            </p:cNvPr>
            <p:cNvSpPr/>
            <p:nvPr/>
          </p:nvSpPr>
          <p:spPr>
            <a:xfrm>
              <a:off x="3536272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Fine-tune LLMs on classified intelligence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6" name="Text 7">
              <a:extLst>
                <a:ext uri="{FF2B5EF4-FFF2-40B4-BE49-F238E27FC236}">
                  <a16:creationId xmlns:a16="http://schemas.microsoft.com/office/drawing/2014/main" id="{53ECB0CE-F863-0795-D3A2-95AD47BF1C12}"/>
                </a:ext>
              </a:extLst>
            </p:cNvPr>
            <p:cNvSpPr/>
            <p:nvPr/>
          </p:nvSpPr>
          <p:spPr>
            <a:xfrm>
              <a:off x="3536272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Air-gap capable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Strict security requirements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TAA compliant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7" name="Shape 11">
              <a:extLst>
                <a:ext uri="{FF2B5EF4-FFF2-40B4-BE49-F238E27FC236}">
                  <a16:creationId xmlns:a16="http://schemas.microsoft.com/office/drawing/2014/main" id="{841F9F46-D45F-93CA-6176-DD9FC22CD1B2}"/>
                </a:ext>
              </a:extLst>
            </p:cNvPr>
            <p:cNvSpPr/>
            <p:nvPr/>
          </p:nvSpPr>
          <p:spPr>
            <a:xfrm>
              <a:off x="3347117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78" name="Text 12">
              <a:extLst>
                <a:ext uri="{FF2B5EF4-FFF2-40B4-BE49-F238E27FC236}">
                  <a16:creationId xmlns:a16="http://schemas.microsoft.com/office/drawing/2014/main" id="{615E017E-4218-35E4-4CAD-C2C507FA7260}"/>
                </a:ext>
              </a:extLst>
            </p:cNvPr>
            <p:cNvSpPr/>
            <p:nvPr/>
          </p:nvSpPr>
          <p:spPr>
            <a:xfrm>
              <a:off x="3536272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Why ZGX Fury? 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79" name="Text 13">
              <a:extLst>
                <a:ext uri="{FF2B5EF4-FFF2-40B4-BE49-F238E27FC236}">
                  <a16:creationId xmlns:a16="http://schemas.microsoft.com/office/drawing/2014/main" id="{957B9AFF-DBFE-612E-AC19-D227FC58B250}"/>
                </a:ext>
              </a:extLst>
            </p:cNvPr>
            <p:cNvSpPr/>
            <p:nvPr/>
          </p:nvSpPr>
          <p:spPr>
            <a:xfrm>
              <a:off x="3536272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Air-gap ready, zero egress</a:t>
              </a: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80" name="Text 5">
              <a:extLst>
                <a:ext uri="{FF2B5EF4-FFF2-40B4-BE49-F238E27FC236}">
                  <a16:creationId xmlns:a16="http://schemas.microsoft.com/office/drawing/2014/main" id="{DB5AABCE-6208-49A0-13F5-14C5EA9CA8BC}"/>
                </a:ext>
              </a:extLst>
            </p:cNvPr>
            <p:cNvSpPr/>
            <p:nvPr/>
          </p:nvSpPr>
          <p:spPr>
            <a:xfrm>
              <a:off x="3536272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Production inference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81" name="Text 6">
              <a:extLst>
                <a:ext uri="{FF2B5EF4-FFF2-40B4-BE49-F238E27FC236}">
                  <a16:creationId xmlns:a16="http://schemas.microsoft.com/office/drawing/2014/main" id="{8DF562A3-4772-35F2-30B2-344D2DD103E0}"/>
                </a:ext>
              </a:extLst>
            </p:cNvPr>
            <p:cNvSpPr/>
            <p:nvPr/>
          </p:nvSpPr>
          <p:spPr>
            <a:xfrm>
              <a:off x="3536272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Intelligence analyst copilot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82" name="Text 7">
              <a:extLst>
                <a:ext uri="{FF2B5EF4-FFF2-40B4-BE49-F238E27FC236}">
                  <a16:creationId xmlns:a16="http://schemas.microsoft.com/office/drawing/2014/main" id="{305D3C64-A9F9-0D07-950B-B4389A4BE80C}"/>
                </a:ext>
              </a:extLst>
            </p:cNvPr>
            <p:cNvSpPr/>
            <p:nvPr/>
          </p:nvSpPr>
          <p:spPr>
            <a:xfrm>
              <a:off x="3536272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Local inference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No external connectivity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SCIF deployable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25D77DE-2B65-DBD1-9872-9E0E9DFB8337}"/>
              </a:ext>
            </a:extLst>
          </p:cNvPr>
          <p:cNvGrpSpPr/>
          <p:nvPr/>
        </p:nvGrpSpPr>
        <p:grpSpPr>
          <a:xfrm>
            <a:off x="6202376" y="1503263"/>
            <a:ext cx="2938451" cy="4278971"/>
            <a:chOff x="6238235" y="1503263"/>
            <a:chExt cx="2938451" cy="4278971"/>
          </a:xfrm>
        </p:grpSpPr>
        <p:sp>
          <p:nvSpPr>
            <p:cNvPr id="93" name="Shape 2">
              <a:extLst>
                <a:ext uri="{FF2B5EF4-FFF2-40B4-BE49-F238E27FC236}">
                  <a16:creationId xmlns:a16="http://schemas.microsoft.com/office/drawing/2014/main" id="{1AD68591-C854-CFF2-8C0D-CEECF055EBC9}"/>
                </a:ext>
              </a:extLst>
            </p:cNvPr>
            <p:cNvSpPr/>
            <p:nvPr/>
          </p:nvSpPr>
          <p:spPr>
            <a:xfrm>
              <a:off x="6238235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53497CBB-C12D-1DB9-2CB7-53B12BD4B453}"/>
                </a:ext>
              </a:extLst>
            </p:cNvPr>
            <p:cNvSpPr/>
            <p:nvPr/>
          </p:nvSpPr>
          <p:spPr>
            <a:xfrm>
              <a:off x="6427390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Product design &amp; </a:t>
              </a:r>
              <a:r>
                <a:rPr lang="en-US" dirty="0" err="1">
                  <a:latin typeface="+mj-lt"/>
                  <a:ea typeface="Arial" pitchFamily="34" charset="-122"/>
                  <a:cs typeface="Arial" pitchFamily="34" charset="-120"/>
                </a:rPr>
                <a:t>mfg</a:t>
              </a:r>
              <a:endParaRPr lang="en-US" dirty="0">
                <a:latin typeface="+mj-lt"/>
              </a:endParaRPr>
            </a:p>
          </p:txBody>
        </p:sp>
        <p:sp>
          <p:nvSpPr>
            <p:cNvPr id="95" name="Text 5">
              <a:extLst>
                <a:ext uri="{FF2B5EF4-FFF2-40B4-BE49-F238E27FC236}">
                  <a16:creationId xmlns:a16="http://schemas.microsoft.com/office/drawing/2014/main" id="{EDB70622-68FC-FB3F-419D-A0EBD1504FFA}"/>
                </a:ext>
              </a:extLst>
            </p:cNvPr>
            <p:cNvSpPr/>
            <p:nvPr/>
          </p:nvSpPr>
          <p:spPr>
            <a:xfrm>
              <a:off x="6427390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AI development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96" name="Text 6">
              <a:extLst>
                <a:ext uri="{FF2B5EF4-FFF2-40B4-BE49-F238E27FC236}">
                  <a16:creationId xmlns:a16="http://schemas.microsoft.com/office/drawing/2014/main" id="{CA957398-03B8-4EDC-18F9-67AA444A33E7}"/>
                </a:ext>
              </a:extLst>
            </p:cNvPr>
            <p:cNvSpPr/>
            <p:nvPr/>
          </p:nvSpPr>
          <p:spPr>
            <a:xfrm>
              <a:off x="6427390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Train generative design on simulation data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97" name="Text 7">
              <a:extLst>
                <a:ext uri="{FF2B5EF4-FFF2-40B4-BE49-F238E27FC236}">
                  <a16:creationId xmlns:a16="http://schemas.microsoft.com/office/drawing/2014/main" id="{9BEBAEE5-7A44-2A6B-0C18-D864C67E40F9}"/>
                </a:ext>
              </a:extLst>
            </p:cNvPr>
            <p:cNvSpPr/>
            <p:nvPr/>
          </p:nvSpPr>
          <p:spPr>
            <a:xfrm>
              <a:off x="6427390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IP protection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Internal design libraries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Simulation outputs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98" name="Shape 11">
              <a:extLst>
                <a:ext uri="{FF2B5EF4-FFF2-40B4-BE49-F238E27FC236}">
                  <a16:creationId xmlns:a16="http://schemas.microsoft.com/office/drawing/2014/main" id="{4CBB0F64-7C4A-AB67-9150-368A7FD4FDA7}"/>
                </a:ext>
              </a:extLst>
            </p:cNvPr>
            <p:cNvSpPr/>
            <p:nvPr/>
          </p:nvSpPr>
          <p:spPr>
            <a:xfrm>
              <a:off x="6238235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99" name="Text 12">
              <a:extLst>
                <a:ext uri="{FF2B5EF4-FFF2-40B4-BE49-F238E27FC236}">
                  <a16:creationId xmlns:a16="http://schemas.microsoft.com/office/drawing/2014/main" id="{9D3B7265-0AEF-BE31-2C5B-320A868EA2C9}"/>
                </a:ext>
              </a:extLst>
            </p:cNvPr>
            <p:cNvSpPr/>
            <p:nvPr/>
          </p:nvSpPr>
          <p:spPr>
            <a:xfrm>
              <a:off x="6427390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Why ZGX Fury? 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00" name="Text 13">
              <a:extLst>
                <a:ext uri="{FF2B5EF4-FFF2-40B4-BE49-F238E27FC236}">
                  <a16:creationId xmlns:a16="http://schemas.microsoft.com/office/drawing/2014/main" id="{EFECA920-90D5-E295-05D8-A7D8D59FA4D8}"/>
                </a:ext>
              </a:extLst>
            </p:cNvPr>
            <p:cNvSpPr/>
            <p:nvPr/>
          </p:nvSpPr>
          <p:spPr>
            <a:xfrm>
              <a:off x="6427390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IP protection, predictable costs</a:t>
              </a: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01" name="Text 5">
              <a:extLst>
                <a:ext uri="{FF2B5EF4-FFF2-40B4-BE49-F238E27FC236}">
                  <a16:creationId xmlns:a16="http://schemas.microsoft.com/office/drawing/2014/main" id="{0BD47650-70CE-F524-7C14-52EF6D9B55CD}"/>
                </a:ext>
              </a:extLst>
            </p:cNvPr>
            <p:cNvSpPr/>
            <p:nvPr/>
          </p:nvSpPr>
          <p:spPr>
            <a:xfrm>
              <a:off x="6427390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Production inference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02" name="Text 6">
              <a:extLst>
                <a:ext uri="{FF2B5EF4-FFF2-40B4-BE49-F238E27FC236}">
                  <a16:creationId xmlns:a16="http://schemas.microsoft.com/office/drawing/2014/main" id="{0B4110DC-F636-79C1-B055-EB847E9A7F17}"/>
                </a:ext>
              </a:extLst>
            </p:cNvPr>
            <p:cNvSpPr/>
            <p:nvPr/>
          </p:nvSpPr>
          <p:spPr>
            <a:xfrm>
              <a:off x="6427390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Real-time design optimization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03" name="Text 7">
              <a:extLst>
                <a:ext uri="{FF2B5EF4-FFF2-40B4-BE49-F238E27FC236}">
                  <a16:creationId xmlns:a16="http://schemas.microsoft.com/office/drawing/2014/main" id="{5704CF0E-A444-A199-CE59-D67FE44D6ABD}"/>
                </a:ext>
              </a:extLst>
            </p:cNvPr>
            <p:cNvSpPr/>
            <p:nvPr/>
          </p:nvSpPr>
          <p:spPr>
            <a:xfrm>
              <a:off x="6427390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No queue times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No cloud round-trips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Faster prototyping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32A5624-65B7-8844-490A-8AF7F57E3365}"/>
              </a:ext>
            </a:extLst>
          </p:cNvPr>
          <p:cNvGrpSpPr/>
          <p:nvPr/>
        </p:nvGrpSpPr>
        <p:grpSpPr>
          <a:xfrm>
            <a:off x="9075564" y="1503263"/>
            <a:ext cx="2938451" cy="4278971"/>
            <a:chOff x="9075564" y="1503263"/>
            <a:chExt cx="2938451" cy="4278971"/>
          </a:xfrm>
        </p:grpSpPr>
        <p:sp>
          <p:nvSpPr>
            <p:cNvPr id="114" name="Shape 2">
              <a:extLst>
                <a:ext uri="{FF2B5EF4-FFF2-40B4-BE49-F238E27FC236}">
                  <a16:creationId xmlns:a16="http://schemas.microsoft.com/office/drawing/2014/main" id="{D7610483-F900-D13A-F4D8-2FB79294821D}"/>
                </a:ext>
              </a:extLst>
            </p:cNvPr>
            <p:cNvSpPr/>
            <p:nvPr/>
          </p:nvSpPr>
          <p:spPr>
            <a:xfrm>
              <a:off x="9075564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5" name="Text 4">
              <a:extLst>
                <a:ext uri="{FF2B5EF4-FFF2-40B4-BE49-F238E27FC236}">
                  <a16:creationId xmlns:a16="http://schemas.microsoft.com/office/drawing/2014/main" id="{AC70EFF7-2005-9AA3-E9A4-1FF64E6AA976}"/>
                </a:ext>
              </a:extLst>
            </p:cNvPr>
            <p:cNvSpPr/>
            <p:nvPr/>
          </p:nvSpPr>
          <p:spPr>
            <a:xfrm>
              <a:off x="9264719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Research labs</a:t>
              </a:r>
              <a:endParaRPr lang="en-US" dirty="0">
                <a:latin typeface="+mj-lt"/>
              </a:endParaRPr>
            </a:p>
          </p:txBody>
        </p:sp>
        <p:sp>
          <p:nvSpPr>
            <p:cNvPr id="116" name="Text 5">
              <a:extLst>
                <a:ext uri="{FF2B5EF4-FFF2-40B4-BE49-F238E27FC236}">
                  <a16:creationId xmlns:a16="http://schemas.microsoft.com/office/drawing/2014/main" id="{98375C30-FD69-BCB1-104F-10EC4C044F67}"/>
                </a:ext>
              </a:extLst>
            </p:cNvPr>
            <p:cNvSpPr/>
            <p:nvPr/>
          </p:nvSpPr>
          <p:spPr>
            <a:xfrm>
              <a:off x="9264719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AI development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17" name="Text 6">
              <a:extLst>
                <a:ext uri="{FF2B5EF4-FFF2-40B4-BE49-F238E27FC236}">
                  <a16:creationId xmlns:a16="http://schemas.microsoft.com/office/drawing/2014/main" id="{0F8FDB11-5E59-8F4C-8EAF-5DB4D6C727EA}"/>
                </a:ext>
              </a:extLst>
            </p:cNvPr>
            <p:cNvSpPr/>
            <p:nvPr/>
          </p:nvSpPr>
          <p:spPr>
            <a:xfrm>
              <a:off x="9264719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Knowledge distillation: 400B → 70B models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18" name="Text 7">
              <a:extLst>
                <a:ext uri="{FF2B5EF4-FFF2-40B4-BE49-F238E27FC236}">
                  <a16:creationId xmlns:a16="http://schemas.microsoft.com/office/drawing/2014/main" id="{2645065D-3624-0A28-031F-7F5DCCE9136D}"/>
                </a:ext>
              </a:extLst>
            </p:cNvPr>
            <p:cNvSpPr/>
            <p:nvPr/>
          </p:nvSpPr>
          <p:spPr>
            <a:xfrm>
              <a:off x="9264719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748GB fits teacher + student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Internal research data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Previously impossible on-prem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19" name="Shape 11">
              <a:extLst>
                <a:ext uri="{FF2B5EF4-FFF2-40B4-BE49-F238E27FC236}">
                  <a16:creationId xmlns:a16="http://schemas.microsoft.com/office/drawing/2014/main" id="{8B113190-47D0-E08C-C85E-000B19C5F303}"/>
                </a:ext>
              </a:extLst>
            </p:cNvPr>
            <p:cNvSpPr/>
            <p:nvPr/>
          </p:nvSpPr>
          <p:spPr>
            <a:xfrm>
              <a:off x="9075564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120" name="Text 12">
              <a:extLst>
                <a:ext uri="{FF2B5EF4-FFF2-40B4-BE49-F238E27FC236}">
                  <a16:creationId xmlns:a16="http://schemas.microsoft.com/office/drawing/2014/main" id="{5DB3B3EF-BB15-1B97-60E4-E5F616A9FFBD}"/>
                </a:ext>
              </a:extLst>
            </p:cNvPr>
            <p:cNvSpPr/>
            <p:nvPr/>
          </p:nvSpPr>
          <p:spPr>
            <a:xfrm>
              <a:off x="9264719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Why ZGX Fury? 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21" name="Text 13">
              <a:extLst>
                <a:ext uri="{FF2B5EF4-FFF2-40B4-BE49-F238E27FC236}">
                  <a16:creationId xmlns:a16="http://schemas.microsoft.com/office/drawing/2014/main" id="{9B409F89-B107-F895-F771-B1657A118981}"/>
                </a:ext>
              </a:extLst>
            </p:cNvPr>
            <p:cNvSpPr/>
            <p:nvPr/>
          </p:nvSpPr>
          <p:spPr>
            <a:xfrm>
              <a:off x="9264719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Unlock cloud/HPC workloads locally </a:t>
              </a:r>
              <a:r>
                <a:rPr lang="en-US" sz="120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without cloud costs</a:t>
              </a:r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22" name="Text 5">
              <a:extLst>
                <a:ext uri="{FF2B5EF4-FFF2-40B4-BE49-F238E27FC236}">
                  <a16:creationId xmlns:a16="http://schemas.microsoft.com/office/drawing/2014/main" id="{A6796435-3D16-3378-583C-893B105B4E00}"/>
                </a:ext>
              </a:extLst>
            </p:cNvPr>
            <p:cNvSpPr/>
            <p:nvPr/>
          </p:nvSpPr>
          <p:spPr>
            <a:xfrm>
              <a:off x="9264719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Production inference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23" name="Text 6">
              <a:extLst>
                <a:ext uri="{FF2B5EF4-FFF2-40B4-BE49-F238E27FC236}">
                  <a16:creationId xmlns:a16="http://schemas.microsoft.com/office/drawing/2014/main" id="{E82238A5-6540-A983-6B8E-6A0CFEE8BFEA}"/>
                </a:ext>
              </a:extLst>
            </p:cNvPr>
            <p:cNvSpPr/>
            <p:nvPr/>
          </p:nvSpPr>
          <p:spPr>
            <a:xfrm>
              <a:off x="9264719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Multi-modal experimentation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24" name="Text 7">
              <a:extLst>
                <a:ext uri="{FF2B5EF4-FFF2-40B4-BE49-F238E27FC236}">
                  <a16:creationId xmlns:a16="http://schemas.microsoft.com/office/drawing/2014/main" id="{D6CB5A04-D52B-F0A6-B8EC-D569A24D1CD7}"/>
                </a:ext>
              </a:extLst>
            </p:cNvPr>
            <p:cNvSpPr/>
            <p:nvPr/>
          </p:nvSpPr>
          <p:spPr>
            <a:xfrm>
              <a:off x="9264719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Text, PDF, images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Long-context workflows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Prototype on internal data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13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P 2025 v2">
  <a:themeElements>
    <a:clrScheme name="HP 2025 v2">
      <a:dk1>
        <a:srgbClr val="000000"/>
      </a:dk1>
      <a:lt1>
        <a:srgbClr val="FFFFFF"/>
      </a:lt1>
      <a:dk2>
        <a:srgbClr val="024AD8"/>
      </a:dk2>
      <a:lt2>
        <a:srgbClr val="F0F0F0"/>
      </a:lt2>
      <a:accent1>
        <a:srgbClr val="4C7683"/>
      </a:accent1>
      <a:accent2>
        <a:srgbClr val="568392"/>
      </a:accent2>
      <a:accent3>
        <a:srgbClr val="779CA8"/>
      </a:accent3>
      <a:accent4>
        <a:srgbClr val="E54747"/>
      </a:accent4>
      <a:accent5>
        <a:srgbClr val="FF504F"/>
      </a:accent5>
      <a:accent6>
        <a:srgbClr val="FF7272"/>
      </a:accent6>
      <a:hlink>
        <a:srgbClr val="000000"/>
      </a:hlink>
      <a:folHlink>
        <a:srgbClr val="000000"/>
      </a:folHlink>
    </a:clrScheme>
    <a:fontScheme name="HP Forma DJR Office 2025">
      <a:majorFont>
        <a:latin typeface="HP Forma DJR Office Medium"/>
        <a:ea typeface="HP Forma DJR Office Medium"/>
        <a:cs typeface="HP Forma DJR Office Medium"/>
        <a:font script="Latn" typeface="HP Forma DJR Office Medium"/>
        <a:font script="Cyrl" typeface="HP Forma DJR Cyrl Office Medium"/>
        <a:font script="Deva" typeface="HP Forma DJR Deva Office Medium"/>
        <a:font script="Arab" typeface="HP Forma DJR Arab Office Medium"/>
        <a:font script="Hebr" typeface="HP Forma DJR Hebr Office Medium"/>
        <a:font script="Thai" typeface="HP Forma DJR Thai Office Medium"/>
        <a:font script="Grek" typeface="HP Forma DJR Grek Office Medium"/>
      </a:majorFont>
      <a:minorFont>
        <a:latin typeface="HP Forma DJR Office"/>
        <a:ea typeface="HP Forma DJR Office"/>
        <a:cs typeface="HP Forma DJR Office"/>
        <a:font script="Latn" typeface="HP Forma DJR Office"/>
        <a:font script="Cyrl" typeface="HP Forma DJR Cyrl Office"/>
        <a:font script="Deva" typeface="HP Forma DJR Deva Office"/>
        <a:font script="Arab" typeface="HP Forma DJR Arab Office"/>
        <a:font script="Hebr" typeface="HP Forma DJR Hebr Office"/>
        <a:font script="Thai" typeface="HP Forma DJR Thai Office"/>
        <a:font script="Grek" typeface="HP Forma DJR Grek Office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none">
          <a:schemeClr val="tx1"/>
        </a:fontRef>
      </a:style>
    </a:spDef>
    <a:lnDef>
      <a:spPr>
        <a:ln w="6350">
          <a:solidFill>
            <a:schemeClr val="bg2">
              <a:lumMod val="1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none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4EBF56D-5FA8-4270-B397-79787659ABC4}" vid="{DDBA45F9-E647-417D-93CE-0FC39BE9AB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1513</Words>
  <Application>Microsoft Office PowerPoint</Application>
  <PresentationFormat>Widescreen</PresentationFormat>
  <Paragraphs>213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HP Forma DJR Office</vt:lpstr>
      <vt:lpstr>HP Forma DJR Office Medium</vt:lpstr>
      <vt:lpstr>Wingdings</vt:lpstr>
      <vt:lpstr>1_Office Theme</vt:lpstr>
      <vt:lpstr>HP 2025 v2</vt:lpstr>
      <vt:lpstr>HP ZGX Fury G1n </vt:lpstr>
      <vt:lpstr>AI spend is scaling. </vt:lpstr>
      <vt:lpstr>AI economics: the spending paradox</vt:lpstr>
      <vt:lpstr>Key features &amp; specifications of HP ZGX Fury</vt:lpstr>
      <vt:lpstr>What sets HP apart</vt:lpstr>
      <vt:lpstr>Developer-first AI environment</vt:lpstr>
      <vt:lpstr>Turn-key inferencing environment</vt:lpstr>
      <vt:lpstr>PowerPoint Presentation</vt:lpstr>
      <vt:lpstr>The right tool for the right workload</vt:lpstr>
      <vt:lpstr>ZGX Fury: use cases by vertical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Burkhalter, Curtis</dc:creator>
  <cp:lastModifiedBy>Burkhalter, Curtis</cp:lastModifiedBy>
  <cp:revision>11</cp:revision>
  <dcterms:created xsi:type="dcterms:W3CDTF">2026-04-27T21:22:52Z</dcterms:created>
  <dcterms:modified xsi:type="dcterms:W3CDTF">2026-05-13T15:30:48Z</dcterms:modified>
</cp:coreProperties>
</file>